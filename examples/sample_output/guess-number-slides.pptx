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教师逐页讲解提示</a:t>
            </a:r>
          </a:p>
          <a:p>
            <a:r>
              <a:t>讲解重点：用最终作品建立期待，不展开知识定义。</a:t>
            </a:r>
          </a:p>
          <a:p>
            <a:r>
              <a:t>课堂提问：今天这个程序需要解决什么问题？</a:t>
            </a:r>
          </a:p>
          <a:p>
            <a:r>
              <a:t>演示动作：—</a:t>
            </a:r>
          </a:p>
          <a:p>
            <a:r>
              <a:t>常见错误：—</a:t>
            </a:r>
          </a:p>
          <a:p>
            <a:r>
              <a:t>时间建议：1 分钟</a:t>
            </a:r>
          </a:p>
          <a:p>
            <a:r>
              <a:t>时间口径：仅表示本页投屏讲解时间，不含学生操作、巡视和过渡。</a:t>
            </a:r>
          </a:p>
          <a:p>
            <a:r>
              <a:t>下一页过渡：先体验一次只允许猜一次的版本。</a:t>
            </a:r>
          </a:p>
          <a:p/>
          <a:p>
            <a:r>
              <a:t>来源：步骤 无；目标 无；知识点 无；活动 无；练习 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教师逐页讲解提示</a:t>
            </a:r>
          </a:p>
          <a:p>
            <a:r>
              <a:t>讲解重点：只描述体验冲突，让学生先提出“重复”的需求。</a:t>
            </a:r>
          </a:p>
          <a:p>
            <a:r>
              <a:t>课堂提问：如果第一次没猜中，程序怎样回到输入的位置？</a:t>
            </a:r>
          </a:p>
          <a:p>
            <a:r>
              <a:t>演示动作：运行一次只能猜一次的版本。</a:t>
            </a:r>
          </a:p>
          <a:p>
            <a:r>
              <a:t>常见错误：—</a:t>
            </a:r>
          </a:p>
          <a:p>
            <a:r>
              <a:t>时间建议：3 分钟</a:t>
            </a:r>
          </a:p>
          <a:p>
            <a:r>
              <a:t>时间口径：仅表示本页投屏讲解时间，不含学生操作、巡视和过渡。</a:t>
            </a:r>
          </a:p>
          <a:p>
            <a:r>
              <a:t>下一页过渡：把学生的想法整理成今天的课程挑战。</a:t>
            </a:r>
          </a:p>
          <a:p/>
          <a:p>
            <a:r>
              <a:t>来源：步骤 STEP-01；目标 OBJ-01；知识点 无；活动 无；练习 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教师逐页讲解提示</a:t>
            </a:r>
          </a:p>
          <a:p>
            <a:r>
              <a:t>讲解重点：把学习目标改写成学生能判断是否完成的作品标准。</a:t>
            </a:r>
          </a:p>
          <a:p>
            <a:r>
              <a:t>课堂提问：完成后你会用哪三种输入测试游戏？</a:t>
            </a:r>
          </a:p>
          <a:p>
            <a:r>
              <a:t>演示动作：—</a:t>
            </a:r>
          </a:p>
          <a:p>
            <a:r>
              <a:t>常见错误：—</a:t>
            </a:r>
          </a:p>
          <a:p>
            <a:r>
              <a:t>时间建议：2 分钟</a:t>
            </a:r>
          </a:p>
          <a:p>
            <a:r>
              <a:t>时间口径：仅表示本页投屏讲解时间，不含学生操作、巡视和过渡。</a:t>
            </a:r>
          </a:p>
          <a:p>
            <a:r>
              <a:t>下一页过渡：先找出我们已经会用的工具。</a:t>
            </a:r>
          </a:p>
          <a:p/>
          <a:p>
            <a:r>
              <a:t>来源：步骤 STEP-01；目标 OBJ-01；知识点 无；活动 无；练习 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教师逐页讲解提示</a:t>
            </a:r>
          </a:p>
          <a:p>
            <a:r>
              <a:t>讲解重点：快速激活变量、input 和 if，不重新讲授旧知识。</a:t>
            </a:r>
          </a:p>
          <a:p>
            <a:r>
              <a:t>课堂提问：哪一个工具只能判断一次？</a:t>
            </a:r>
          </a:p>
          <a:p>
            <a:r>
              <a:t>演示动作：—</a:t>
            </a:r>
          </a:p>
          <a:p>
            <a:r>
              <a:t>常见错误：不要把旧知识回顾扩展成新课。</a:t>
            </a:r>
          </a:p>
          <a:p>
            <a:r>
              <a:t>时间建议：3 分钟</a:t>
            </a:r>
          </a:p>
          <a:p>
            <a:r>
              <a:t>时间口径：仅表示本页投屏讲解时间，不含学生操作、巡视和过渡。</a:t>
            </a:r>
          </a:p>
          <a:p>
            <a:r>
              <a:t>下一页过渡：接下来认识负责“重复”的新工具。</a:t>
            </a:r>
          </a:p>
          <a:p/>
          <a:p>
            <a:r>
              <a:t>来源：步骤 STEP-01；目标 OBJ-01；知识点 无；活动 无；练习 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教师逐页讲解提示</a:t>
            </a:r>
          </a:p>
          <a:p>
            <a:r>
              <a:t>讲解重点：强调每轮开始前都会重新判断条件。</a:t>
            </a:r>
          </a:p>
          <a:p>
            <a:r>
              <a:t>课堂提问：条件变成 False 后，程序去哪里？</a:t>
            </a:r>
          </a:p>
          <a:p>
            <a:r>
              <a:t>演示动作：—</a:t>
            </a:r>
          </a:p>
          <a:p>
            <a:r>
              <a:t>常见错误：避免把 while 说成固定重复次数。</a:t>
            </a:r>
          </a:p>
          <a:p>
            <a:r>
              <a:t>时间建议：4 分钟</a:t>
            </a:r>
          </a:p>
          <a:p>
            <a:r>
              <a:t>时间口径：仅表示本页投屏讲解时间，不含学生操作、巡视和过渡。</a:t>
            </a:r>
          </a:p>
          <a:p>
            <a:r>
              <a:t>下一页过渡：用一个流程把判断和重复连接起来。</a:t>
            </a:r>
          </a:p>
          <a:p/>
          <a:p>
            <a:r>
              <a:t>来源：步骤 STEP-02；目标 OBJ-01；知识点 K-01, K-02；活动 无；练习 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教师逐页讲解提示</a:t>
            </a:r>
          </a:p>
          <a:p>
            <a:r>
              <a:t>讲解重点：沿流程指读一遍，重点是执行后会回到条件。</a:t>
            </a:r>
          </a:p>
          <a:p>
            <a:r>
              <a:t>课堂提问：连续三次 True 会执行几次？</a:t>
            </a:r>
          </a:p>
          <a:p>
            <a:r>
              <a:t>演示动作：用手指沿三步流程走一圈。</a:t>
            </a:r>
          </a:p>
          <a:p>
            <a:r>
              <a:t>常见错误：—</a:t>
            </a:r>
          </a:p>
          <a:p>
            <a:r>
              <a:t>时间建议：3 分钟</a:t>
            </a:r>
          </a:p>
          <a:p>
            <a:r>
              <a:t>时间口径：仅表示本页投屏讲解时间，不含学生操作、巡视和过渡。</a:t>
            </a:r>
          </a:p>
          <a:p>
            <a:r>
              <a:t>下一页过渡：把流程变成一个全班可参与的循环。</a:t>
            </a:r>
          </a:p>
          <a:p/>
          <a:p>
            <a:r>
              <a:t>来源：步骤 STEP-02；目标 OBJ-01；知识点 K-01, K-02；活动 无；练习 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教师逐页讲解提示</a:t>
            </a:r>
          </a:p>
          <a:p>
            <a:r>
              <a:t>讲解重点：先宣布规则，再开始动作；结束后追问停止原因。</a:t>
            </a:r>
          </a:p>
          <a:p>
            <a:r>
              <a:t>课堂提问：你为什么在这一轮停下？</a:t>
            </a:r>
          </a:p>
          <a:p>
            <a:r>
              <a:t>演示动作：请两名学生分别扮演条件与循环体。</a:t>
            </a:r>
          </a:p>
          <a:p>
            <a:r>
              <a:t>常见错误：—</a:t>
            </a:r>
          </a:p>
          <a:p>
            <a:r>
              <a:t>时间建议：5 分钟</a:t>
            </a:r>
          </a:p>
          <a:p>
            <a:r>
              <a:t>时间口径：仅表示本页投屏讲解时间，不含学生操作、巡视和过渡。</a:t>
            </a:r>
          </a:p>
          <a:p>
            <a:r>
              <a:t>下一页过渡：现在把刚才的动作规则写成最小代码。</a:t>
            </a:r>
          </a:p>
          <a:p/>
          <a:p>
            <a:r>
              <a:t>来源：步骤 STEP-02；目标 OBJ-01；知识点 K-01, K-02；活动 ACT-01；练习 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教师逐页讲解提示</a:t>
            </a:r>
          </a:p>
          <a:p>
            <a:r>
              <a:t>讲解重点：guess 每轮都会更新；当 guess 等于 answer 时，循环条件变为 False。</a:t>
            </a:r>
          </a:p>
          <a:p>
            <a:r>
              <a:t>课堂提问：哪一行让条件有机会变成 False？</a:t>
            </a:r>
          </a:p>
          <a:p>
            <a:r>
              <a:t>演示动作：逐行运行 CODE-01，观察 guess 的变化。</a:t>
            </a:r>
          </a:p>
          <a:p>
            <a:r>
              <a:t>常见错误：input 必须位于循环体内。</a:t>
            </a:r>
          </a:p>
          <a:p>
            <a:r>
              <a:t>时间建议：5 分钟</a:t>
            </a:r>
          </a:p>
          <a:p>
            <a:r>
              <a:t>时间口径：仅表示本页投屏讲解时间，不含学生操作、巡视和过渡。</a:t>
            </a:r>
          </a:p>
          <a:p>
            <a:r>
              <a:t>下一页过渡：先不运行，预测不同输入会走几轮。</a:t>
            </a:r>
          </a:p>
          <a:p/>
          <a:p>
            <a:r>
              <a:t>来源：步骤 STEP-03；目标 OBJ-01, OBJ-02；知识点 K-01, K-02, K-03；活动 ACT-03；练习 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教师逐页讲解提示</a:t>
            </a:r>
          </a:p>
          <a:p>
            <a:r>
              <a:t>讲解重点：先收集预测，再运行验证；不要直接公布答案。</a:t>
            </a:r>
          </a:p>
          <a:p>
            <a:r>
              <a:t>课堂提问：输入 3、7 时循环执行几次？</a:t>
            </a:r>
          </a:p>
          <a:p>
            <a:r>
              <a:t>演示动作：用两次输入运行同一份 Blueprint 代码。</a:t>
            </a:r>
          </a:p>
          <a:p>
            <a:r>
              <a:t>常见错误：—</a:t>
            </a:r>
          </a:p>
          <a:p>
            <a:r>
              <a:t>时间建议：4 分钟</a:t>
            </a:r>
          </a:p>
          <a:p>
            <a:r>
              <a:t>时间口径：仅表示本页投屏讲解时间，不含学生操作、巡视和过渡。</a:t>
            </a:r>
          </a:p>
          <a:p>
            <a:r>
              <a:t>下一页过渡：最小循环能停止了，下一步加入大小提示。</a:t>
            </a:r>
          </a:p>
          <a:p/>
          <a:p>
            <a:r>
              <a:t>来源：步骤 STEP-03；目标 OBJ-01, OBJ-02；知识点 K-01, K-02, K-03；活动 ACT-03；练习 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教师逐页讲解提示</a:t>
            </a:r>
          </a:p>
          <a:p>
            <a:r>
              <a:t>讲解重点：先明确成功标准，再让学生补全半成品。</a:t>
            </a:r>
          </a:p>
          <a:p>
            <a:r>
              <a:t>课堂提问：大小判断应该放在哪里？</a:t>
            </a:r>
          </a:p>
          <a:p>
            <a:r>
              <a:t>演示动作：展示缩进位置，不提供新的代码版本。</a:t>
            </a:r>
          </a:p>
          <a:p>
            <a:r>
              <a:t>常见错误：常见错误是判断放到循环外。</a:t>
            </a:r>
          </a:p>
          <a:p>
            <a:r>
              <a:t>时间建议：8 分钟</a:t>
            </a:r>
          </a:p>
          <a:p>
            <a:r>
              <a:t>时间口径：仅表示本页投屏讲解时间，不含学生操作、巡视和过渡。</a:t>
            </a:r>
          </a:p>
          <a:p>
            <a:r>
              <a:t>下一页过渡：动手前先诊断两种最常见的错误。</a:t>
            </a:r>
          </a:p>
          <a:p/>
          <a:p>
            <a:r>
              <a:t>来源：步骤 STEP-04；目标 OBJ-02；知识点 K-02, K-03；活动 无；练习 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教师逐页讲解提示</a:t>
            </a:r>
          </a:p>
          <a:p>
            <a:r>
              <a:t>讲解重点：让学生说出诊断顺序，不直接替学生修改代码。</a:t>
            </a:r>
          </a:p>
          <a:p>
            <a:r>
              <a:t>课堂提问：循环不停止时先看哪里？</a:t>
            </a:r>
          </a:p>
          <a:p>
            <a:r>
              <a:t>演示动作：演示手动终止后再定位错误。</a:t>
            </a:r>
          </a:p>
          <a:p>
            <a:r>
              <a:t>常见错误：不要运行无法安全终止的死循环太久。</a:t>
            </a:r>
          </a:p>
          <a:p>
            <a:r>
              <a:t>时间建议：4 分钟</a:t>
            </a:r>
          </a:p>
          <a:p>
            <a:r>
              <a:t>时间口径：仅表示本页投屏讲解时间，不含学生操作、巡视和过渡。</a:t>
            </a:r>
          </a:p>
          <a:p>
            <a:r>
              <a:t>下一页过渡：带着调试清单完成完整项目。</a:t>
            </a:r>
          </a:p>
          <a:p/>
          <a:p>
            <a:r>
              <a:t>来源：步骤 STEP-04；目标 OBJ-02；知识点 K-02, K-03；活动 无；练习 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教师逐页讲解提示</a:t>
            </a:r>
          </a:p>
          <a:p>
            <a:r>
              <a:t>讲解重点：输入和大小判断都位于循环体内，因此每次猜测后都会得到反馈并继续判断。</a:t>
            </a:r>
          </a:p>
          <a:p>
            <a:r>
              <a:t>课堂提问：这份完整代码怎样满足三个作品标准？</a:t>
            </a:r>
          </a:p>
          <a:p>
            <a:r>
              <a:t>演示动作：运行 CODE-02 的三类测试输入。</a:t>
            </a:r>
          </a:p>
          <a:p>
            <a:r>
              <a:t>常见错误：保持 Blueprint 原始代码，不现场改写另一个版本。</a:t>
            </a:r>
          </a:p>
          <a:p>
            <a:r>
              <a:t>时间建议：5 分钟</a:t>
            </a:r>
          </a:p>
          <a:p>
            <a:r>
              <a:t>时间口径：仅表示本页投屏讲解时间，不含学生操作、巡视和过渡。</a:t>
            </a:r>
          </a:p>
          <a:p>
            <a:r>
              <a:t>下一页过渡：接下来由学生独立完成并互相测试。</a:t>
            </a:r>
          </a:p>
          <a:p/>
          <a:p>
            <a:r>
              <a:t>来源：步骤 STEP-05；目标 OBJ-02；知识点 K-01, K-02, K-03；活动 无；练习 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教师逐页讲解提示</a:t>
            </a:r>
          </a:p>
          <a:p>
            <a:r>
              <a:t>讲解重点：用完成标准巡视，不逐行替学生写代码。</a:t>
            </a:r>
          </a:p>
          <a:p>
            <a:r>
              <a:t>课堂提问：你用什么证据证明游戏能正确停止？</a:t>
            </a:r>
          </a:p>
          <a:p>
            <a:r>
              <a:t>演示动作：请同伴输入三类测试数据。</a:t>
            </a:r>
          </a:p>
          <a:p>
            <a:r>
              <a:t>常见错误：—</a:t>
            </a:r>
          </a:p>
          <a:p>
            <a:r>
              <a:t>时间建议：2 分钟</a:t>
            </a:r>
          </a:p>
          <a:p>
            <a:r>
              <a:t>时间口径：仅表示本页投屏讲解时间，不含学生操作、巡视和过渡。</a:t>
            </a:r>
          </a:p>
          <a:p>
            <a:r>
              <a:t>下一页过渡：用测试证据回到本课核心结论。</a:t>
            </a:r>
          </a:p>
          <a:p/>
          <a:p>
            <a:r>
              <a:t>来源：步骤 STEP-05；目标 OBJ-02；知识点 K-01, K-02, K-03；活动 ACT-02；练习 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教师逐页讲解提示</a:t>
            </a:r>
          </a:p>
          <a:p>
            <a:r>
              <a:t>讲解重点：先让学生复述，再显示标准术语。</a:t>
            </a:r>
          </a:p>
          <a:p>
            <a:r>
              <a:t>课堂提问：while 循环何时继续、何时停止？</a:t>
            </a:r>
          </a:p>
          <a:p>
            <a:r>
              <a:t>演示动作：—</a:t>
            </a:r>
          </a:p>
          <a:p>
            <a:r>
              <a:t>常见错误：不要把总结变成重新讲一遍整节课。</a:t>
            </a:r>
          </a:p>
          <a:p>
            <a:r>
              <a:t>时间建议：4 分钟</a:t>
            </a:r>
          </a:p>
          <a:p>
            <a:r>
              <a:t>时间口径：仅表示本页投屏讲解时间，不含学生操作、巡视和过渡。</a:t>
            </a:r>
          </a:p>
          <a:p>
            <a:r>
              <a:t>下一页过渡：最后选择一个挑战继续升级作品。</a:t>
            </a:r>
          </a:p>
          <a:p/>
          <a:p>
            <a:r>
              <a:t>来源：步骤 STEP-06；目标 OBJ-01, OBJ-02；知识点 K-01, K-02, K-03；活动 无；练习 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教师逐页讲解提示</a:t>
            </a:r>
          </a:p>
          <a:p>
            <a:r>
              <a:t>讲解重点：只说明任务和验收标准，不在课堂末尾给出完整答案。</a:t>
            </a:r>
          </a:p>
          <a:p>
            <a:r>
              <a:t>课堂提问：你准备先修改哪一部分？</a:t>
            </a:r>
          </a:p>
          <a:p>
            <a:r>
              <a:t>演示动作：—</a:t>
            </a:r>
          </a:p>
          <a:p>
            <a:r>
              <a:t>常见错误：—</a:t>
            </a:r>
          </a:p>
          <a:p>
            <a:r>
              <a:t>时间建议：2 分钟</a:t>
            </a:r>
          </a:p>
          <a:p>
            <a:r>
              <a:t>时间口径：仅表示本页投屏讲解时间，不含学生操作、巡视和过渡。</a:t>
            </a:r>
          </a:p>
          <a:p>
            <a:r>
              <a:t>下一页过渡：课程结束，保存作品与测试记录。</a:t>
            </a:r>
          </a:p>
          <a:p/>
          <a:p>
            <a:r>
              <a:t>来源：步骤 STEP-06；目标 OBJ-01, OBJ-02；知识点 K-01, K-02, K-03；活动 无；练习 EX-03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31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C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1417320"/>
            <a:ext cx="10241280" cy="13258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Python 猜数字游戏：用 while 让游戏继续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2926080"/>
            <a:ext cx="9326880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defRPr sz="2300" b="0">
                <a:solidFill>
                  <a:srgbClr val="DCEEFA"/>
                </a:solidFill>
                <a:latin typeface="Microsoft YaHei"/>
              </a:defRPr>
            </a:pPr>
            <a:r>
              <a:t>Python · 10～12 岁</a:t>
            </a:r>
            <a:br/>
            <a:r>
              <a:t>理解并使用 while 循环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4937760"/>
            <a:ext cx="6355080" cy="585216"/>
          </a:xfrm>
          <a:prstGeom prst="roundRect">
            <a:avLst/>
          </a:prstGeom>
          <a:solidFill>
            <a:srgbClr val="2A69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127248" y="5029200"/>
            <a:ext cx="5943600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从问题出发  ·  用代码验证  ·  完成作品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CEE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502920"/>
            <a:ext cx="1005840" cy="10058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defRPr sz="5400" b="1">
                <a:solidFill>
                  <a:srgbClr val="EC7541"/>
                </a:solidFill>
                <a:latin typeface="Microsoft YaHei"/>
              </a:defRPr>
            </a:pPr>
            <a:r>
              <a:t>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64208" y="475488"/>
            <a:ext cx="9509760" cy="9601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defRPr sz="3500" b="1">
                <a:solidFill>
                  <a:srgbClr val="18314E"/>
                </a:solidFill>
                <a:latin typeface="Microsoft YaHei"/>
              </a:defRPr>
            </a:pPr>
            <a:r>
              <a:t>情境导入：一次没猜中怎么办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719072"/>
            <a:ext cx="10351008" cy="18745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25880" y="1965960"/>
            <a:ext cx="9509760" cy="13258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defRPr sz="3100" b="1">
                <a:solidFill>
                  <a:srgbClr val="18314E"/>
                </a:solidFill>
                <a:latin typeface="Microsoft YaHei"/>
              </a:defRPr>
            </a:pPr>
            <a:r>
              <a:t>如果第一次没猜中，程序怎样回到输入的位置？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3913632"/>
            <a:ext cx="9692640" cy="11430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32931"/>
                </a:solidFill>
                <a:latin typeface="Microsoft YaHei"/>
              </a:defRPr>
            </a:pPr>
            <a:r>
              <a:rPr>
                <a:solidFill>
                  <a:srgbClr val="EC7541"/>
                </a:solidFill>
              </a:rPr>
              <a:t>●  第一次猜错后，游戏结束了。</a:t>
            </a:r>
          </a:p>
          <a:p>
            <a:pPr>
              <a:spcAft>
                <a:spcPts val="1400"/>
              </a:spcAft>
              <a:defRPr sz="2000">
                <a:solidFill>
                  <a:srgbClr val="232931"/>
                </a:solidFill>
                <a:latin typeface="Microsoft YaHei"/>
              </a:defRPr>
            </a:pPr>
            <a:r>
              <a:rPr>
                <a:solidFill>
                  <a:srgbClr val="EC7541"/>
                </a:solidFill>
              </a:rPr>
              <a:t>●  我们希望玩家可以继续猜。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446520"/>
            <a:ext cx="402336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defRPr sz="900" b="0">
                <a:solidFill>
                  <a:srgbClr val="606A76"/>
                </a:solidFill>
                <a:latin typeface="Microsoft YaHei"/>
              </a:defRPr>
            </a:pPr>
            <a:r>
              <a:t>LessonCraft AI · STEP-01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69880" y="6446520"/>
            <a:ext cx="91440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r">
              <a:defRPr sz="900" b="0">
                <a:solidFill>
                  <a:srgbClr val="606A76"/>
                </a:solidFill>
                <a:latin typeface="Microsoft YaHei"/>
              </a:defRPr>
            </a:pPr>
            <a:r>
              <a:t>SLIDE-02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31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658368"/>
            <a:ext cx="4937760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FFC444"/>
                </a:solidFill>
                <a:latin typeface="Microsoft YaHei"/>
              </a:defRPr>
            </a:pPr>
            <a:r>
              <a:t>COURSE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188720"/>
            <a:ext cx="10058400" cy="11430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defRPr sz="4300" b="1">
                <a:solidFill>
                  <a:srgbClr val="FFFFFF"/>
                </a:solidFill>
                <a:latin typeface="Microsoft YaHei"/>
              </a:defRPr>
            </a:pPr>
            <a:r>
              <a:t>今天的挑战：猜中前一直继续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2971800"/>
            <a:ext cx="3310128" cy="1481328"/>
          </a:xfrm>
          <a:prstGeom prst="roundRect">
            <a:avLst/>
          </a:prstGeom>
          <a:solidFill>
            <a:srgbClr val="2A69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9848" y="3154680"/>
            <a:ext cx="566928" cy="4572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defRPr sz="2000" b="1">
                <a:solidFill>
                  <a:srgbClr val="FFC444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611880"/>
            <a:ext cx="2852928" cy="56692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Microsoft YaHei"/>
              </a:defRPr>
            </a:pPr>
            <a:r>
              <a:t>允许重复输入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53712" y="2971800"/>
            <a:ext cx="3310128" cy="1481328"/>
          </a:xfrm>
          <a:prstGeom prst="roundRect">
            <a:avLst/>
          </a:prstGeom>
          <a:solidFill>
            <a:srgbClr val="2B8F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3154680"/>
            <a:ext cx="566928" cy="4572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defRPr sz="2000" b="1">
                <a:solidFill>
                  <a:srgbClr val="FFC444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82312" y="3611880"/>
            <a:ext cx="2852928" cy="56692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Microsoft YaHei"/>
              </a:defRPr>
            </a:pPr>
            <a:r>
              <a:t>每次给出大小提示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38744" y="2971800"/>
            <a:ext cx="3310128" cy="1481328"/>
          </a:xfrm>
          <a:prstGeom prst="roundRect">
            <a:avLst/>
          </a:prstGeom>
          <a:solidFill>
            <a:srgbClr val="2A69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39912" y="3154680"/>
            <a:ext cx="566928" cy="4572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defRPr sz="2000" b="1">
                <a:solidFill>
                  <a:srgbClr val="FFC444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67344" y="3611880"/>
            <a:ext cx="2852928" cy="56692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Microsoft YaHei"/>
              </a:defRPr>
            </a:pPr>
            <a:r>
              <a:t>猜中后停止并祝贺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69880" y="6419088"/>
            <a:ext cx="914400" cy="21945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r">
              <a:defRPr sz="900" b="0">
                <a:solidFill>
                  <a:srgbClr val="DCEEFA"/>
                </a:solidFill>
                <a:latin typeface="Microsoft YaHei"/>
              </a:defRPr>
            </a:pPr>
            <a:r>
              <a:t>SLIDE-03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75488" y="411480"/>
            <a:ext cx="109728" cy="658368"/>
          </a:xfrm>
          <a:prstGeom prst="rect">
            <a:avLst/>
          </a:prstGeom>
          <a:solidFill>
            <a:srgbClr val="2A69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56032"/>
            <a:ext cx="10698480" cy="8961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defRPr sz="3400" b="1">
                <a:solidFill>
                  <a:srgbClr val="18314E"/>
                </a:solidFill>
                <a:latin typeface="Microsoft YaHei"/>
              </a:defRPr>
            </a:pPr>
            <a:r>
              <a:t>旧工具够用吗？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161288"/>
            <a:ext cx="10698480" cy="22860"/>
          </a:xfrm>
          <a:prstGeom prst="rect">
            <a:avLst/>
          </a:prstGeom>
          <a:solidFill>
            <a:srgbClr val="DC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5074920" cy="3429000"/>
          </a:xfrm>
          <a:prstGeom prst="roundRect">
            <a:avLst/>
          </a:prstGeom>
          <a:solidFill>
            <a:srgbClr val="DC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10512"/>
            <a:ext cx="4389120" cy="5029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defRPr sz="2200" b="1">
                <a:solidFill>
                  <a:srgbClr val="18314E"/>
                </a:solidFill>
                <a:latin typeface="Microsoft YaHei"/>
              </a:defRPr>
            </a:pPr>
            <a:r>
              <a:t>已经会用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32304"/>
            <a:ext cx="4434840" cy="20574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32931"/>
                </a:solidFill>
                <a:latin typeface="Microsoft YaHei"/>
              </a:defRPr>
            </a:pPr>
            <a:r>
              <a:rPr>
                <a:solidFill>
                  <a:srgbClr val="2B8F67"/>
                </a:solidFill>
              </a:rPr>
              <a:t>●  变量：保存答案</a:t>
            </a:r>
          </a:p>
          <a:p>
            <a:pPr>
              <a:spcAft>
                <a:spcPts val="1400"/>
              </a:spcAft>
              <a:defRPr sz="2000">
                <a:solidFill>
                  <a:srgbClr val="232931"/>
                </a:solidFill>
                <a:latin typeface="Microsoft YaHei"/>
              </a:defRPr>
            </a:pPr>
            <a:r>
              <a:rPr>
                <a:solidFill>
                  <a:srgbClr val="2B8F67"/>
                </a:solidFill>
              </a:rPr>
              <a:t>●  input：读取猜测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59" y="1600200"/>
            <a:ext cx="5074920" cy="3429000"/>
          </a:xfrm>
          <a:prstGeom prst="roundRect">
            <a:avLst/>
          </a:prstGeom>
          <a:solidFill>
            <a:srgbClr val="FFE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399" y="1810512"/>
            <a:ext cx="4389120" cy="5029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defRPr sz="2200" b="1">
                <a:solidFill>
                  <a:srgbClr val="18314E"/>
                </a:solidFill>
                <a:latin typeface="Microsoft YaHei"/>
              </a:defRPr>
            </a:pPr>
            <a:r>
              <a:t>还需解决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399" y="2432304"/>
            <a:ext cx="4434840" cy="20574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32931"/>
                </a:solidFill>
                <a:latin typeface="Microsoft YaHei"/>
              </a:defRPr>
            </a:pPr>
            <a:r>
              <a:rPr>
                <a:solidFill>
                  <a:srgbClr val="EC7541"/>
                </a:solidFill>
              </a:rPr>
              <a:t>●  if：判断一次</a:t>
            </a:r>
          </a:p>
          <a:p>
            <a:pPr>
              <a:spcAft>
                <a:spcPts val="1400"/>
              </a:spcAft>
              <a:defRPr sz="2000">
                <a:solidFill>
                  <a:srgbClr val="232931"/>
                </a:solidFill>
                <a:latin typeface="Microsoft YaHei"/>
              </a:defRPr>
            </a:pPr>
            <a:r>
              <a:rPr>
                <a:solidFill>
                  <a:srgbClr val="EC7541"/>
                </a:solidFill>
              </a:rPr>
              <a:t>●  缺少：重复判断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5431536"/>
            <a:ext cx="10561320" cy="713232"/>
          </a:xfrm>
          <a:prstGeom prst="roundRect">
            <a:avLst/>
          </a:prstGeom>
          <a:solidFill>
            <a:srgbClr val="FFC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5559552"/>
            <a:ext cx="1143000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defRPr sz="1600" b="1">
                <a:solidFill>
                  <a:srgbClr val="18314E"/>
                </a:solidFill>
                <a:latin typeface="Microsoft YaHei"/>
              </a:defRPr>
            </a:pPr>
            <a:r>
              <a:t>选一选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84831" y="5495544"/>
            <a:ext cx="8915400" cy="5029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defRPr sz="2000" b="1">
                <a:solidFill>
                  <a:srgbClr val="18314E"/>
                </a:solidFill>
                <a:latin typeface="Microsoft YaHei"/>
              </a:defRPr>
            </a:pPr>
            <a:r>
              <a:t>哪一个工具只能判断一次，不能让游戏继续？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6446520"/>
            <a:ext cx="402336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defRPr sz="900" b="0">
                <a:solidFill>
                  <a:srgbClr val="606A76"/>
                </a:solidFill>
                <a:latin typeface="Microsoft YaHei"/>
              </a:defRPr>
            </a:pPr>
            <a:r>
              <a:t>LessonCraft AI · STEP-01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69880" y="6446520"/>
            <a:ext cx="91440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r">
              <a:defRPr sz="900" b="0">
                <a:solidFill>
                  <a:srgbClr val="606A76"/>
                </a:solidFill>
                <a:latin typeface="Microsoft YaHei"/>
              </a:defRPr>
            </a:pPr>
            <a:r>
              <a:t>SLIDE-04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75488" y="411480"/>
            <a:ext cx="109728" cy="658368"/>
          </a:xfrm>
          <a:prstGeom prst="rect">
            <a:avLst/>
          </a:prstGeom>
          <a:solidFill>
            <a:srgbClr val="2A69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56032"/>
            <a:ext cx="10698480" cy="8961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defRPr sz="3000" b="1">
                <a:solidFill>
                  <a:srgbClr val="18314E"/>
                </a:solidFill>
                <a:latin typeface="Microsoft YaHei"/>
              </a:defRPr>
            </a:pPr>
            <a:r>
              <a:t>while 循环：条件为真就继续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161288"/>
            <a:ext cx="10698480" cy="22860"/>
          </a:xfrm>
          <a:prstGeom prst="rect">
            <a:avLst/>
          </a:prstGeom>
          <a:solidFill>
            <a:srgbClr val="DC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4754880" cy="3401568"/>
          </a:xfrm>
          <a:prstGeom prst="roundRect">
            <a:avLst/>
          </a:prstGeom>
          <a:solidFill>
            <a:srgbClr val="183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432" y="2057400"/>
            <a:ext cx="3977639" cy="24231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defRPr sz="2900" b="1">
                <a:solidFill>
                  <a:srgbClr val="FFFFFF"/>
                </a:solidFill>
                <a:latin typeface="Microsoft YaHei"/>
              </a:defRPr>
            </a:pPr>
            <a:r>
              <a:t>while 循环会在条件为 True 时重复执行一组代码。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97880" y="1737360"/>
            <a:ext cx="5166360" cy="32461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32931"/>
                </a:solidFill>
                <a:latin typeface="Microsoft YaHei"/>
              </a:defRPr>
            </a:pPr>
            <a:r>
              <a:rPr>
                <a:solidFill>
                  <a:srgbClr val="2B8F67"/>
                </a:solidFill>
              </a:rPr>
              <a:t>●  条件为 True：执行并再次判断</a:t>
            </a:r>
          </a:p>
          <a:p>
            <a:pPr>
              <a:spcAft>
                <a:spcPts val="1400"/>
              </a:spcAft>
              <a:defRPr sz="2100">
                <a:solidFill>
                  <a:srgbClr val="232931"/>
                </a:solidFill>
                <a:latin typeface="Microsoft YaHei"/>
              </a:defRPr>
            </a:pPr>
            <a:r>
              <a:rPr>
                <a:solidFill>
                  <a:srgbClr val="2B8F67"/>
                </a:solidFill>
              </a:rPr>
              <a:t>●  条件为 False：离开循环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6446520"/>
            <a:ext cx="402336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defRPr sz="900" b="0">
                <a:solidFill>
                  <a:srgbClr val="606A76"/>
                </a:solidFill>
                <a:latin typeface="Microsoft YaHei"/>
              </a:defRPr>
            </a:pPr>
            <a:r>
              <a:t>LessonCraft AI · STEP-02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6446520"/>
            <a:ext cx="91440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r">
              <a:defRPr sz="900" b="0">
                <a:solidFill>
                  <a:srgbClr val="606A76"/>
                </a:solidFill>
                <a:latin typeface="Microsoft YaHei"/>
              </a:defRPr>
            </a:pPr>
            <a:r>
              <a:t>SLIDE-05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75488" y="411480"/>
            <a:ext cx="109728" cy="658368"/>
          </a:xfrm>
          <a:prstGeom prst="rect">
            <a:avLst/>
          </a:prstGeom>
          <a:solidFill>
            <a:srgbClr val="2B8F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56032"/>
            <a:ext cx="10698480" cy="8961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defRPr sz="3400" b="1">
                <a:solidFill>
                  <a:srgbClr val="18314E"/>
                </a:solidFill>
                <a:latin typeface="Microsoft YaHei"/>
              </a:defRPr>
            </a:pPr>
            <a:r>
              <a:t>先判断，再执行，再回去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161288"/>
            <a:ext cx="10698480" cy="22860"/>
          </a:xfrm>
          <a:prstGeom prst="rect">
            <a:avLst/>
          </a:prstGeom>
          <a:solidFill>
            <a:srgbClr val="DC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74519"/>
            <a:ext cx="315468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20240" y="1527048"/>
            <a:ext cx="749808" cy="749808"/>
          </a:xfrm>
          <a:prstGeom prst="ellipse">
            <a:avLst/>
          </a:prstGeom>
          <a:solidFill>
            <a:srgbClr val="2A69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20240" y="1572768"/>
            <a:ext cx="749808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defRPr sz="23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40280"/>
            <a:ext cx="2697480" cy="11430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defRPr sz="2300" b="1">
                <a:solidFill>
                  <a:srgbClr val="18314E"/>
                </a:solidFill>
                <a:latin typeface="Microsoft YaHei"/>
              </a:defRPr>
            </a:pPr>
            <a:r>
              <a:t>判断循环条件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2423160"/>
            <a:ext cx="502920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defRPr sz="3100" b="1">
                <a:solidFill>
                  <a:srgbClr val="EC7541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98848" y="1874519"/>
            <a:ext cx="315468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87568" y="1527048"/>
            <a:ext cx="749808" cy="749808"/>
          </a:xfrm>
          <a:prstGeom prst="ellipse">
            <a:avLst/>
          </a:prstGeom>
          <a:solidFill>
            <a:srgbClr val="2A69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87568" y="1572768"/>
            <a:ext cx="749808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defRPr sz="23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7448" y="2240280"/>
            <a:ext cx="2697480" cy="11430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defRPr sz="2300" b="1">
                <a:solidFill>
                  <a:srgbClr val="18314E"/>
                </a:solidFill>
                <a:latin typeface="Microsoft YaHei"/>
              </a:defRPr>
            </a:pPr>
            <a:r>
              <a:t>执行缩进代码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99248" y="2423160"/>
            <a:ext cx="502920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defRPr sz="3100" b="1">
                <a:solidFill>
                  <a:srgbClr val="EC7541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66176" y="1874519"/>
            <a:ext cx="315468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454896" y="1527048"/>
            <a:ext cx="749808" cy="749808"/>
          </a:xfrm>
          <a:prstGeom prst="ellipse">
            <a:avLst/>
          </a:prstGeom>
          <a:solidFill>
            <a:srgbClr val="2A69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54896" y="1572768"/>
            <a:ext cx="749808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defRPr sz="23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94776" y="2240280"/>
            <a:ext cx="2697480" cy="11430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defRPr sz="2300" b="1">
                <a:solidFill>
                  <a:srgbClr val="18314E"/>
                </a:solidFill>
                <a:latin typeface="Microsoft YaHei"/>
              </a:defRPr>
            </a:pPr>
            <a:r>
              <a:t>回到条件再次判断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5431536"/>
            <a:ext cx="10561320" cy="713232"/>
          </a:xfrm>
          <a:prstGeom prst="roundRect">
            <a:avLst/>
          </a:prstGeom>
          <a:solidFill>
            <a:srgbClr val="FFC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5559552"/>
            <a:ext cx="1143000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defRPr sz="1600" b="1">
                <a:solidFill>
                  <a:srgbClr val="18314E"/>
                </a:solidFill>
                <a:latin typeface="Microsoft YaHei"/>
              </a:defRPr>
            </a:pPr>
            <a:r>
              <a:t>先预测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84831" y="5495544"/>
            <a:ext cx="8915400" cy="5029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defRPr sz="2000" b="1">
                <a:solidFill>
                  <a:srgbClr val="18314E"/>
                </a:solidFill>
                <a:latin typeface="Microsoft YaHei"/>
              </a:defRPr>
            </a:pPr>
            <a:r>
              <a:t>如果条件连续三次都是 True，循环体会执行几次？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6446520"/>
            <a:ext cx="402336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defRPr sz="900" b="0">
                <a:solidFill>
                  <a:srgbClr val="606A76"/>
                </a:solidFill>
                <a:latin typeface="Microsoft YaHei"/>
              </a:defRPr>
            </a:pPr>
            <a:r>
              <a:t>LessonCraft AI · STEP-02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69880" y="6446520"/>
            <a:ext cx="91440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r">
              <a:defRPr sz="900" b="0">
                <a:solidFill>
                  <a:srgbClr val="606A76"/>
                </a:solidFill>
                <a:latin typeface="Microsoft YaHei"/>
              </a:defRPr>
            </a:pPr>
            <a:r>
              <a:t>SLIDE-06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75488" y="411480"/>
            <a:ext cx="109728" cy="658368"/>
          </a:xfrm>
          <a:prstGeom prst="rect">
            <a:avLst/>
          </a:prstGeom>
          <a:solidFill>
            <a:srgbClr val="EC7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56032"/>
            <a:ext cx="10698480" cy="8961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defRPr sz="3400" b="1">
                <a:solidFill>
                  <a:srgbClr val="18314E"/>
                </a:solidFill>
                <a:latin typeface="Microsoft YaHei"/>
              </a:defRPr>
            </a:pPr>
            <a:r>
              <a:t>人体 while 循环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161288"/>
            <a:ext cx="10698480" cy="22860"/>
          </a:xfrm>
          <a:prstGeom prst="rect">
            <a:avLst/>
          </a:prstGeom>
          <a:solidFill>
            <a:srgbClr val="DC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481328"/>
            <a:ext cx="3017520" cy="3611880"/>
          </a:xfrm>
          <a:prstGeom prst="roundRect">
            <a:avLst/>
          </a:prstGeom>
          <a:solidFill>
            <a:srgbClr val="EC7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755648"/>
            <a:ext cx="2468880" cy="71323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Microsoft YaHei"/>
              </a:defRPr>
            </a:pPr>
            <a:r>
              <a:t>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" y="2542032"/>
            <a:ext cx="2423160" cy="20574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defRPr sz="2300" b="1">
                <a:solidFill>
                  <a:srgbClr val="FFFFFF"/>
                </a:solidFill>
                <a:latin typeface="Microsoft YaHei"/>
              </a:defRPr>
            </a:pPr>
            <a:r>
              <a:t>按条件牌行动；条件变为 False 时立即停下。</a:t>
            </a:r>
          </a:p>
        </p:txBody>
      </p:sp>
      <p:sp>
        <p:nvSpPr>
          <p:cNvPr id="8" name="Oval 7"/>
          <p:cNvSpPr/>
          <p:nvPr/>
        </p:nvSpPr>
        <p:spPr>
          <a:xfrm>
            <a:off x="4224528" y="1572768"/>
            <a:ext cx="530352" cy="530352"/>
          </a:xfrm>
          <a:prstGeom prst="ellipse">
            <a:avLst/>
          </a:prstGeom>
          <a:solidFill>
            <a:srgbClr val="183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24528" y="1591056"/>
            <a:ext cx="53035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6048" y="1527048"/>
            <a:ext cx="5806440" cy="6400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defRPr sz="2100" b="1">
                <a:solidFill>
                  <a:srgbClr val="232931"/>
                </a:solidFill>
                <a:latin typeface="Microsoft YaHei"/>
              </a:defRPr>
            </a:pPr>
            <a:r>
              <a:t>一名学生举条件牌，另一名学生在条件为 True 时重复走一步，直到到达终点。</a:t>
            </a:r>
          </a:p>
        </p:txBody>
      </p:sp>
      <p:sp>
        <p:nvSpPr>
          <p:cNvPr id="11" name="Oval 10"/>
          <p:cNvSpPr/>
          <p:nvPr/>
        </p:nvSpPr>
        <p:spPr>
          <a:xfrm>
            <a:off x="4224528" y="2414016"/>
            <a:ext cx="530352" cy="530352"/>
          </a:xfrm>
          <a:prstGeom prst="ellipse">
            <a:avLst/>
          </a:prstGeom>
          <a:solidFill>
            <a:srgbClr val="183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24528" y="2432304"/>
            <a:ext cx="53035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56048" y="2368296"/>
            <a:ext cx="5806440" cy="6400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defRPr sz="2100" b="0">
                <a:solidFill>
                  <a:srgbClr val="232931"/>
                </a:solidFill>
                <a:latin typeface="Microsoft YaHei"/>
              </a:defRPr>
            </a:pPr>
            <a:r>
              <a:t>观察：条件什么时候改变？</a:t>
            </a:r>
          </a:p>
        </p:txBody>
      </p:sp>
      <p:sp>
        <p:nvSpPr>
          <p:cNvPr id="14" name="Oval 13"/>
          <p:cNvSpPr/>
          <p:nvPr/>
        </p:nvSpPr>
        <p:spPr>
          <a:xfrm>
            <a:off x="4224528" y="3255264"/>
            <a:ext cx="530352" cy="530352"/>
          </a:xfrm>
          <a:prstGeom prst="ellipse">
            <a:avLst/>
          </a:prstGeom>
          <a:solidFill>
            <a:srgbClr val="183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24528" y="3273552"/>
            <a:ext cx="53035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56048" y="3209544"/>
            <a:ext cx="5806440" cy="6400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defRPr sz="2100" b="0">
                <a:solidFill>
                  <a:srgbClr val="232931"/>
                </a:solidFill>
                <a:latin typeface="Microsoft YaHei"/>
              </a:defRPr>
            </a:pPr>
            <a:r>
              <a:t>目标：能说出循环何时停止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6446520"/>
            <a:ext cx="402336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defRPr sz="900" b="0">
                <a:solidFill>
                  <a:srgbClr val="606A76"/>
                </a:solidFill>
                <a:latin typeface="Microsoft YaHei"/>
              </a:defRPr>
            </a:pPr>
            <a:r>
              <a:t>LessonCraft AI · STEP-02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69880" y="6446520"/>
            <a:ext cx="91440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r">
              <a:defRPr sz="900" b="0">
                <a:solidFill>
                  <a:srgbClr val="606A76"/>
                </a:solidFill>
                <a:latin typeface="Microsoft YaHei"/>
              </a:defRPr>
            </a:pPr>
            <a:r>
              <a:t>SLIDE-07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75488" y="411480"/>
            <a:ext cx="109728" cy="658368"/>
          </a:xfrm>
          <a:prstGeom prst="rect">
            <a:avLst/>
          </a:prstGeom>
          <a:solidFill>
            <a:srgbClr val="2B8F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56032"/>
            <a:ext cx="10698480" cy="8961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defRPr sz="3400" b="1">
                <a:solidFill>
                  <a:srgbClr val="18314E"/>
                </a:solidFill>
                <a:latin typeface="Microsoft YaHei"/>
              </a:defRPr>
            </a:pPr>
            <a:r>
              <a:t>最小代码：重复输入直到猜中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161288"/>
            <a:ext cx="10698480" cy="22860"/>
          </a:xfrm>
          <a:prstGeom prst="rect">
            <a:avLst/>
          </a:prstGeom>
          <a:solidFill>
            <a:srgbClr val="DC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371600"/>
            <a:ext cx="7589520" cy="3977639"/>
          </a:xfrm>
          <a:prstGeom prst="roundRect">
            <a:avLst/>
          </a:prstGeom>
          <a:solidFill>
            <a:srgbClr val="1C21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0976" y="1600200"/>
            <a:ext cx="7150608" cy="352044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>
              <a:spcAft>
                <a:spcPts val="200"/>
              </a:spcAft>
              <a:defRPr sz="1600" b="0">
                <a:solidFill>
                  <a:srgbClr val="E7EBF0"/>
                </a:solidFill>
                <a:latin typeface="Menlo"/>
              </a:defRPr>
            </a:pPr>
            <a:r>
              <a:t> 1  answer = 7</a:t>
            </a:r>
          </a:p>
          <a:p>
            <a:pPr>
              <a:spcAft>
                <a:spcPts val="200"/>
              </a:spcAft>
              <a:defRPr sz="1600" b="0">
                <a:solidFill>
                  <a:srgbClr val="E7EBF0"/>
                </a:solidFill>
                <a:latin typeface="Menlo"/>
              </a:defRPr>
            </a:pPr>
            <a:r>
              <a:t> 2  guess = 0</a:t>
            </a:r>
          </a:p>
          <a:p>
            <a:pPr>
              <a:spcAft>
                <a:spcPts val="200"/>
              </a:spcAft>
              <a:defRPr sz="1600" b="0">
                <a:solidFill>
                  <a:srgbClr val="E7EBF0"/>
                </a:solidFill>
                <a:latin typeface="Menlo"/>
              </a:defRPr>
            </a:pPr>
            <a:r>
              <a:t> 3  </a:t>
            </a:r>
          </a:p>
          <a:p>
            <a:pPr>
              <a:spcAft>
                <a:spcPts val="200"/>
              </a:spcAft>
              <a:defRPr sz="1600" b="1">
                <a:solidFill>
                  <a:srgbClr val="FFC444"/>
                </a:solidFill>
                <a:latin typeface="Menlo"/>
              </a:defRPr>
            </a:pPr>
            <a:r>
              <a:t> 4  while guess != answer:</a:t>
            </a:r>
          </a:p>
          <a:p>
            <a:pPr>
              <a:spcAft>
                <a:spcPts val="200"/>
              </a:spcAft>
              <a:defRPr sz="1600" b="1">
                <a:solidFill>
                  <a:srgbClr val="FFC444"/>
                </a:solidFill>
                <a:latin typeface="Menlo"/>
              </a:defRPr>
            </a:pPr>
            <a:r>
              <a:t> 5      guess = int(input("请输入 1～10 的数字："))</a:t>
            </a:r>
          </a:p>
          <a:p>
            <a:pPr>
              <a:spcAft>
                <a:spcPts val="200"/>
              </a:spcAft>
              <a:defRPr sz="1600" b="0">
                <a:solidFill>
                  <a:srgbClr val="E7EBF0"/>
                </a:solidFill>
                <a:latin typeface="Menlo"/>
              </a:defRPr>
            </a:pPr>
            <a:r>
              <a:t> 6  </a:t>
            </a:r>
          </a:p>
          <a:p>
            <a:pPr>
              <a:spcAft>
                <a:spcPts val="200"/>
              </a:spcAft>
              <a:defRPr sz="1600" b="0">
                <a:solidFill>
                  <a:srgbClr val="E7EBF0"/>
                </a:solidFill>
                <a:latin typeface="Menlo"/>
              </a:defRPr>
            </a:pPr>
            <a:r>
              <a:t> 7  print("猜对了！")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95360" y="1371600"/>
            <a:ext cx="2697480" cy="3977639"/>
          </a:xfrm>
          <a:prstGeom prst="roundRect">
            <a:avLst/>
          </a:prstGeom>
          <a:solidFill>
            <a:srgbClr val="DC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42832" y="1673352"/>
            <a:ext cx="2011680" cy="8412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defRPr sz="1800" b="1">
                <a:solidFill>
                  <a:srgbClr val="18314E"/>
                </a:solidFill>
                <a:latin typeface="Microsoft YaHei"/>
              </a:defRPr>
            </a:pPr>
            <a:r>
              <a:t>代码来源</a:t>
            </a:r>
            <a:br/>
            <a:r>
              <a:t>CODE-01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1392" y="2670048"/>
            <a:ext cx="2148840" cy="2240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232931"/>
                </a:solidFill>
                <a:latin typeface="Microsoft YaHei"/>
              </a:defRPr>
            </a:pPr>
            <a:r>
              <a:rPr>
                <a:solidFill>
                  <a:srgbClr val="2B8F67"/>
                </a:solidFill>
              </a:rPr>
              <a:t>●  条件：guess != answer</a:t>
            </a:r>
          </a:p>
          <a:p>
            <a:pPr>
              <a:spcAft>
                <a:spcPts val="1400"/>
              </a:spcAft>
              <a:defRPr sz="1500">
                <a:solidFill>
                  <a:srgbClr val="232931"/>
                </a:solidFill>
                <a:latin typeface="Microsoft YaHei"/>
              </a:defRPr>
            </a:pPr>
            <a:r>
              <a:rPr>
                <a:solidFill>
                  <a:srgbClr val="2B8F67"/>
                </a:solidFill>
              </a:rPr>
              <a:t>●  每轮更新 guess</a:t>
            </a:r>
          </a:p>
          <a:p>
            <a:pPr>
              <a:spcAft>
                <a:spcPts val="1400"/>
              </a:spcAft>
              <a:defRPr sz="1500">
                <a:solidFill>
                  <a:srgbClr val="232931"/>
                </a:solidFill>
                <a:latin typeface="Microsoft YaHei"/>
              </a:defRPr>
            </a:pPr>
            <a:r>
              <a:rPr>
                <a:solidFill>
                  <a:srgbClr val="2B8F67"/>
                </a:solidFill>
              </a:rPr>
              <a:t>●  猜中后离开循环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6446520"/>
            <a:ext cx="402336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defRPr sz="900" b="0">
                <a:solidFill>
                  <a:srgbClr val="606A76"/>
                </a:solidFill>
                <a:latin typeface="Microsoft YaHei"/>
              </a:defRPr>
            </a:pPr>
            <a:r>
              <a:t>LessonCraft AI · STEP-03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69880" y="6446520"/>
            <a:ext cx="91440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r">
              <a:defRPr sz="900" b="0">
                <a:solidFill>
                  <a:srgbClr val="606A76"/>
                </a:solidFill>
                <a:latin typeface="Microsoft YaHei"/>
              </a:defRPr>
            </a:pPr>
            <a:r>
              <a:t>SLIDE-08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75488" y="411480"/>
            <a:ext cx="109728" cy="658368"/>
          </a:xfrm>
          <a:prstGeom prst="rect">
            <a:avLst/>
          </a:prstGeom>
          <a:solidFill>
            <a:srgbClr val="2B8F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56032"/>
            <a:ext cx="10698480" cy="8961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defRPr sz="3400" b="1">
                <a:solidFill>
                  <a:srgbClr val="18314E"/>
                </a:solidFill>
                <a:latin typeface="Microsoft YaHei"/>
              </a:defRPr>
            </a:pPr>
            <a:r>
              <a:t>运行前先预测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161288"/>
            <a:ext cx="10698480" cy="22860"/>
          </a:xfrm>
          <a:prstGeom prst="rect">
            <a:avLst/>
          </a:prstGeom>
          <a:solidFill>
            <a:srgbClr val="DC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371600"/>
            <a:ext cx="7589520" cy="3977639"/>
          </a:xfrm>
          <a:prstGeom prst="roundRect">
            <a:avLst/>
          </a:prstGeom>
          <a:solidFill>
            <a:srgbClr val="1C21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0976" y="1600200"/>
            <a:ext cx="7150608" cy="352044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>
              <a:spcAft>
                <a:spcPts val="200"/>
              </a:spcAft>
              <a:defRPr sz="1600" b="0">
                <a:solidFill>
                  <a:srgbClr val="E7EBF0"/>
                </a:solidFill>
                <a:latin typeface="Menlo"/>
              </a:defRPr>
            </a:pPr>
            <a:r>
              <a:t> 1  answer = 7</a:t>
            </a:r>
          </a:p>
          <a:p>
            <a:pPr>
              <a:spcAft>
                <a:spcPts val="200"/>
              </a:spcAft>
              <a:defRPr sz="1600" b="0">
                <a:solidFill>
                  <a:srgbClr val="E7EBF0"/>
                </a:solidFill>
                <a:latin typeface="Menlo"/>
              </a:defRPr>
            </a:pPr>
            <a:r>
              <a:t> 2  guess = 0</a:t>
            </a:r>
          </a:p>
          <a:p>
            <a:pPr>
              <a:spcAft>
                <a:spcPts val="200"/>
              </a:spcAft>
              <a:defRPr sz="1600" b="0">
                <a:solidFill>
                  <a:srgbClr val="E7EBF0"/>
                </a:solidFill>
                <a:latin typeface="Menlo"/>
              </a:defRPr>
            </a:pPr>
            <a:r>
              <a:t> 3  </a:t>
            </a:r>
          </a:p>
          <a:p>
            <a:pPr>
              <a:spcAft>
                <a:spcPts val="200"/>
              </a:spcAft>
              <a:defRPr sz="1600" b="1">
                <a:solidFill>
                  <a:srgbClr val="FFC444"/>
                </a:solidFill>
                <a:latin typeface="Menlo"/>
              </a:defRPr>
            </a:pPr>
            <a:r>
              <a:t> 4  while guess != answer:</a:t>
            </a:r>
          </a:p>
          <a:p>
            <a:pPr>
              <a:spcAft>
                <a:spcPts val="200"/>
              </a:spcAft>
              <a:defRPr sz="1600" b="1">
                <a:solidFill>
                  <a:srgbClr val="FFC444"/>
                </a:solidFill>
                <a:latin typeface="Menlo"/>
              </a:defRPr>
            </a:pPr>
            <a:r>
              <a:t> 5      guess = int(input("请输入 1～10 的数字："))</a:t>
            </a:r>
          </a:p>
          <a:p>
            <a:pPr>
              <a:spcAft>
                <a:spcPts val="200"/>
              </a:spcAft>
              <a:defRPr sz="1600" b="0">
                <a:solidFill>
                  <a:srgbClr val="E7EBF0"/>
                </a:solidFill>
                <a:latin typeface="Menlo"/>
              </a:defRPr>
            </a:pPr>
            <a:r>
              <a:t> 6  </a:t>
            </a:r>
          </a:p>
          <a:p>
            <a:pPr>
              <a:spcAft>
                <a:spcPts val="200"/>
              </a:spcAft>
              <a:defRPr sz="1600" b="1">
                <a:solidFill>
                  <a:srgbClr val="FFC444"/>
                </a:solidFill>
                <a:latin typeface="Menlo"/>
              </a:defRPr>
            </a:pPr>
            <a:r>
              <a:t> 7  print("猜对了！")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95360" y="1371600"/>
            <a:ext cx="2697480" cy="3977639"/>
          </a:xfrm>
          <a:prstGeom prst="roundRect">
            <a:avLst/>
          </a:prstGeom>
          <a:solidFill>
            <a:srgbClr val="DC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42832" y="1673352"/>
            <a:ext cx="2011680" cy="8412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defRPr sz="1800" b="1">
                <a:solidFill>
                  <a:srgbClr val="18314E"/>
                </a:solidFill>
                <a:latin typeface="Microsoft YaHei"/>
              </a:defRPr>
            </a:pPr>
            <a:r>
              <a:t>代码来源</a:t>
            </a:r>
            <a:br/>
            <a:r>
              <a:t>CODE-01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1392" y="2670048"/>
            <a:ext cx="2148840" cy="2240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232931"/>
                </a:solidFill>
                <a:latin typeface="Microsoft YaHei"/>
              </a:defRPr>
            </a:pPr>
            <a:r>
              <a:rPr>
                <a:solidFill>
                  <a:srgbClr val="2B8F67"/>
                </a:solidFill>
              </a:rPr>
              <a:t>●  输入 3 → True</a:t>
            </a:r>
          </a:p>
          <a:p>
            <a:pPr>
              <a:spcAft>
                <a:spcPts val="1400"/>
              </a:spcAft>
              <a:defRPr sz="1500">
                <a:solidFill>
                  <a:srgbClr val="232931"/>
                </a:solidFill>
                <a:latin typeface="Microsoft YaHei"/>
              </a:defRPr>
            </a:pPr>
            <a:r>
              <a:rPr>
                <a:solidFill>
                  <a:srgbClr val="2B8F67"/>
                </a:solidFill>
              </a:rPr>
              <a:t>●  输入 7 → False</a:t>
            </a:r>
          </a:p>
          <a:p>
            <a:pPr>
              <a:spcAft>
                <a:spcPts val="1400"/>
              </a:spcAft>
              <a:defRPr sz="1500">
                <a:solidFill>
                  <a:srgbClr val="232931"/>
                </a:solidFill>
                <a:latin typeface="Microsoft YaHei"/>
              </a:defRPr>
            </a:pPr>
            <a:r>
              <a:rPr>
                <a:solidFill>
                  <a:srgbClr val="2B8F67"/>
                </a:solidFill>
              </a:rPr>
              <a:t>●  输出：猜对了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431536"/>
            <a:ext cx="10561320" cy="713232"/>
          </a:xfrm>
          <a:prstGeom prst="roundRect">
            <a:avLst/>
          </a:prstGeom>
          <a:solidFill>
            <a:srgbClr val="FFC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5559552"/>
            <a:ext cx="1143000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defRPr sz="1600" b="1">
                <a:solidFill>
                  <a:srgbClr val="18314E"/>
                </a:solidFill>
                <a:latin typeface="Microsoft YaHei"/>
              </a:defRPr>
            </a:pPr>
            <a:r>
              <a:t>先预测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84831" y="5495544"/>
            <a:ext cx="8915400" cy="5029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defRPr sz="2000" b="1">
                <a:solidFill>
                  <a:srgbClr val="18314E"/>
                </a:solidFill>
                <a:latin typeface="Microsoft YaHei"/>
              </a:defRPr>
            </a:pPr>
            <a:r>
              <a:t>依次输入 3、7，循环体一共执行几次？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6446520"/>
            <a:ext cx="402336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defRPr sz="900" b="0">
                <a:solidFill>
                  <a:srgbClr val="606A76"/>
                </a:solidFill>
                <a:latin typeface="Microsoft YaHei"/>
              </a:defRPr>
            </a:pPr>
            <a:r>
              <a:t>LessonCraft AI · STEP-03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69880" y="6446520"/>
            <a:ext cx="91440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r">
              <a:defRPr sz="900" b="0">
                <a:solidFill>
                  <a:srgbClr val="606A76"/>
                </a:solidFill>
                <a:latin typeface="Microsoft YaHei"/>
              </a:defRPr>
            </a:pPr>
            <a:r>
              <a:t>SLIDE-09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75488" y="411480"/>
            <a:ext cx="109728" cy="658368"/>
          </a:xfrm>
          <a:prstGeom prst="rect">
            <a:avLst/>
          </a:prstGeom>
          <a:solidFill>
            <a:srgbClr val="EC7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56032"/>
            <a:ext cx="10698480" cy="8961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defRPr sz="3400" b="1">
                <a:solidFill>
                  <a:srgbClr val="18314E"/>
                </a:solidFill>
                <a:latin typeface="Microsoft YaHei"/>
              </a:defRPr>
            </a:pPr>
            <a:r>
              <a:t>互动实践：加入大小提示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161288"/>
            <a:ext cx="10698480" cy="22860"/>
          </a:xfrm>
          <a:prstGeom prst="rect">
            <a:avLst/>
          </a:prstGeom>
          <a:solidFill>
            <a:srgbClr val="DC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481328"/>
            <a:ext cx="3017520" cy="3611880"/>
          </a:xfrm>
          <a:prstGeom prst="roundRect">
            <a:avLst/>
          </a:prstGeom>
          <a:solidFill>
            <a:srgbClr val="EC7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755648"/>
            <a:ext cx="2468880" cy="71323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Microsoft YaHei"/>
              </a:defRPr>
            </a:pPr>
            <a:r>
              <a:t>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" y="2542032"/>
            <a:ext cx="2423160" cy="20574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defRPr sz="2300" b="1">
                <a:solidFill>
                  <a:srgbClr val="FFFFFF"/>
                </a:solidFill>
                <a:latin typeface="Microsoft YaHei"/>
              </a:defRPr>
            </a:pPr>
            <a:r>
              <a:t>大小判断应该放在 while 的里面还是外面？</a:t>
            </a:r>
          </a:p>
        </p:txBody>
      </p:sp>
      <p:sp>
        <p:nvSpPr>
          <p:cNvPr id="8" name="Oval 7"/>
          <p:cNvSpPr/>
          <p:nvPr/>
        </p:nvSpPr>
        <p:spPr>
          <a:xfrm>
            <a:off x="4224528" y="1572768"/>
            <a:ext cx="530352" cy="530352"/>
          </a:xfrm>
          <a:prstGeom prst="ellipse">
            <a:avLst/>
          </a:prstGeom>
          <a:solidFill>
            <a:srgbClr val="183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24528" y="1591056"/>
            <a:ext cx="53035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6048" y="1527048"/>
            <a:ext cx="5806440" cy="6400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defRPr sz="2100" b="1">
                <a:solidFill>
                  <a:srgbClr val="232931"/>
                </a:solidFill>
                <a:latin typeface="Microsoft YaHei"/>
              </a:defRPr>
            </a:pPr>
            <a:r>
              <a:t>把 if / elif 放进循环体</a:t>
            </a:r>
          </a:p>
        </p:txBody>
      </p:sp>
      <p:sp>
        <p:nvSpPr>
          <p:cNvPr id="11" name="Oval 10"/>
          <p:cNvSpPr/>
          <p:nvPr/>
        </p:nvSpPr>
        <p:spPr>
          <a:xfrm>
            <a:off x="4224528" y="2414016"/>
            <a:ext cx="530352" cy="530352"/>
          </a:xfrm>
          <a:prstGeom prst="ellipse">
            <a:avLst/>
          </a:prstGeom>
          <a:solidFill>
            <a:srgbClr val="183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24528" y="2432304"/>
            <a:ext cx="53035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56048" y="2368296"/>
            <a:ext cx="5806440" cy="6400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defRPr sz="2100" b="0">
                <a:solidFill>
                  <a:srgbClr val="232931"/>
                </a:solidFill>
                <a:latin typeface="Microsoft YaHei"/>
              </a:defRPr>
            </a:pPr>
            <a:r>
              <a:t>每次输入后给出大小提示</a:t>
            </a:r>
          </a:p>
        </p:txBody>
      </p:sp>
      <p:sp>
        <p:nvSpPr>
          <p:cNvPr id="14" name="Oval 13"/>
          <p:cNvSpPr/>
          <p:nvPr/>
        </p:nvSpPr>
        <p:spPr>
          <a:xfrm>
            <a:off x="4224528" y="3255264"/>
            <a:ext cx="530352" cy="530352"/>
          </a:xfrm>
          <a:prstGeom prst="ellipse">
            <a:avLst/>
          </a:prstGeom>
          <a:solidFill>
            <a:srgbClr val="183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24528" y="3273552"/>
            <a:ext cx="530352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56048" y="3209544"/>
            <a:ext cx="5806440" cy="6400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defRPr sz="2100" b="0">
                <a:solidFill>
                  <a:srgbClr val="232931"/>
                </a:solidFill>
                <a:latin typeface="Microsoft YaHei"/>
              </a:defRPr>
            </a:pPr>
            <a:r>
              <a:t>用偏小、偏大、正确三类输入测试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6446520"/>
            <a:ext cx="402336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defRPr sz="900" b="0">
                <a:solidFill>
                  <a:srgbClr val="606A76"/>
                </a:solidFill>
                <a:latin typeface="Microsoft YaHei"/>
              </a:defRPr>
            </a:pPr>
            <a:r>
              <a:t>LessonCraft AI · STEP-04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69880" y="6446520"/>
            <a:ext cx="91440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r">
              <a:defRPr sz="900" b="0">
                <a:solidFill>
                  <a:srgbClr val="606A76"/>
                </a:solidFill>
                <a:latin typeface="Microsoft YaHei"/>
              </a:defRPr>
            </a:pPr>
            <a:r>
              <a:t>SLIDE-10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CEE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502920"/>
            <a:ext cx="1005840" cy="10058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defRPr sz="5400" b="1">
                <a:solidFill>
                  <a:srgbClr val="EC7541"/>
                </a:solidFill>
                <a:latin typeface="Microsoft YaHei"/>
              </a:defRPr>
            </a:pPr>
            <a:r>
              <a:t>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64208" y="475488"/>
            <a:ext cx="9509760" cy="9601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defRPr sz="3500" b="1">
                <a:solidFill>
                  <a:srgbClr val="18314E"/>
                </a:solidFill>
                <a:latin typeface="Microsoft YaHei"/>
              </a:defRPr>
            </a:pPr>
            <a:r>
              <a:t>调试挑战：为什么它停不下来？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719072"/>
            <a:ext cx="10351008" cy="18745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25880" y="1965960"/>
            <a:ext cx="9509760" cy="13258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defRPr sz="3100" b="1">
                <a:solidFill>
                  <a:srgbClr val="18314E"/>
                </a:solidFill>
                <a:latin typeface="Microsoft YaHei"/>
              </a:defRPr>
            </a:pPr>
            <a:r>
              <a:t>先检查哪一项：条件、缩进，还是变量更新？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3913632"/>
            <a:ext cx="9692640" cy="11430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32931"/>
                </a:solidFill>
                <a:latin typeface="Microsoft YaHei"/>
              </a:defRPr>
            </a:pPr>
            <a:r>
              <a:rPr>
                <a:solidFill>
                  <a:srgbClr val="EC7541"/>
                </a:solidFill>
              </a:rPr>
              <a:t>●  把 while 写成 if，导致代码只判断一次</a:t>
            </a:r>
          </a:p>
          <a:p>
            <a:pPr>
              <a:spcAft>
                <a:spcPts val="1400"/>
              </a:spcAft>
              <a:defRPr sz="2000">
                <a:solidFill>
                  <a:srgbClr val="232931"/>
                </a:solidFill>
                <a:latin typeface="Microsoft YaHei"/>
              </a:defRPr>
            </a:pPr>
            <a:r>
              <a:rPr>
                <a:solidFill>
                  <a:srgbClr val="EC7541"/>
                </a:solidFill>
              </a:rPr>
              <a:t>●  忘记给循环体缩进</a:t>
            </a:r>
          </a:p>
          <a:p>
            <a:pPr>
              <a:spcAft>
                <a:spcPts val="1400"/>
              </a:spcAft>
              <a:defRPr sz="2000">
                <a:solidFill>
                  <a:srgbClr val="232931"/>
                </a:solidFill>
                <a:latin typeface="Microsoft YaHei"/>
              </a:defRPr>
            </a:pPr>
            <a:r>
              <a:rPr>
                <a:solidFill>
                  <a:srgbClr val="EC7541"/>
                </a:solidFill>
              </a:rPr>
              <a:t>●  条件永远为 True，形成无限循环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446520"/>
            <a:ext cx="402336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defRPr sz="900" b="0">
                <a:solidFill>
                  <a:srgbClr val="606A76"/>
                </a:solidFill>
                <a:latin typeface="Microsoft YaHei"/>
              </a:defRPr>
            </a:pPr>
            <a:r>
              <a:t>LessonCraft AI · STEP-04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69880" y="6446520"/>
            <a:ext cx="91440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r">
              <a:defRPr sz="900" b="0">
                <a:solidFill>
                  <a:srgbClr val="606A76"/>
                </a:solidFill>
                <a:latin typeface="Microsoft YaHei"/>
              </a:defRPr>
            </a:pPr>
            <a:r>
              <a:t>SLIDE-11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75488" y="411480"/>
            <a:ext cx="109728" cy="658368"/>
          </a:xfrm>
          <a:prstGeom prst="rect">
            <a:avLst/>
          </a:prstGeom>
          <a:solidFill>
            <a:srgbClr val="2B8F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56032"/>
            <a:ext cx="10698480" cy="8961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defRPr sz="3400" b="1">
                <a:solidFill>
                  <a:srgbClr val="18314E"/>
                </a:solidFill>
                <a:latin typeface="Microsoft YaHei"/>
              </a:defRPr>
            </a:pPr>
            <a:r>
              <a:t>完整版本：加入大小提示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161288"/>
            <a:ext cx="10698480" cy="22860"/>
          </a:xfrm>
          <a:prstGeom prst="rect">
            <a:avLst/>
          </a:prstGeom>
          <a:solidFill>
            <a:srgbClr val="DC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371600"/>
            <a:ext cx="7589520" cy="3977639"/>
          </a:xfrm>
          <a:prstGeom prst="roundRect">
            <a:avLst/>
          </a:prstGeom>
          <a:solidFill>
            <a:srgbClr val="1C21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0976" y="1600200"/>
            <a:ext cx="7150608" cy="352044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>
              <a:spcAft>
                <a:spcPts val="200"/>
              </a:spcAft>
              <a:defRPr sz="1500" b="0">
                <a:solidFill>
                  <a:srgbClr val="E7EBF0"/>
                </a:solidFill>
                <a:latin typeface="Menlo"/>
              </a:defRPr>
            </a:pPr>
            <a:r>
              <a:t> 1  answer = 7</a:t>
            </a:r>
          </a:p>
          <a:p>
            <a:pPr>
              <a:spcAft>
                <a:spcPts val="200"/>
              </a:spcAft>
              <a:defRPr sz="1500" b="0">
                <a:solidFill>
                  <a:srgbClr val="E7EBF0"/>
                </a:solidFill>
                <a:latin typeface="Menlo"/>
              </a:defRPr>
            </a:pPr>
            <a:r>
              <a:t> 2  guess = 0</a:t>
            </a:r>
          </a:p>
          <a:p>
            <a:pPr>
              <a:spcAft>
                <a:spcPts val="200"/>
              </a:spcAft>
              <a:defRPr sz="1500" b="0">
                <a:solidFill>
                  <a:srgbClr val="E7EBF0"/>
                </a:solidFill>
                <a:latin typeface="Menlo"/>
              </a:defRPr>
            </a:pPr>
            <a:r>
              <a:t> 3  </a:t>
            </a:r>
          </a:p>
          <a:p>
            <a:pPr>
              <a:spcAft>
                <a:spcPts val="200"/>
              </a:spcAft>
              <a:defRPr sz="1500" b="1">
                <a:solidFill>
                  <a:srgbClr val="FFC444"/>
                </a:solidFill>
                <a:latin typeface="Menlo"/>
              </a:defRPr>
            </a:pPr>
            <a:r>
              <a:t> 4  while guess != answer:</a:t>
            </a:r>
          </a:p>
          <a:p>
            <a:pPr>
              <a:spcAft>
                <a:spcPts val="200"/>
              </a:spcAft>
              <a:defRPr sz="1500" b="1">
                <a:solidFill>
                  <a:srgbClr val="FFC444"/>
                </a:solidFill>
                <a:latin typeface="Menlo"/>
              </a:defRPr>
            </a:pPr>
            <a:r>
              <a:t> 5      guess = int(input("请输入 1～10 的数字："))</a:t>
            </a:r>
          </a:p>
          <a:p>
            <a:pPr>
              <a:spcAft>
                <a:spcPts val="200"/>
              </a:spcAft>
              <a:defRPr sz="1500" b="1">
                <a:solidFill>
                  <a:srgbClr val="FFC444"/>
                </a:solidFill>
                <a:latin typeface="Menlo"/>
              </a:defRPr>
            </a:pPr>
            <a:r>
              <a:t> 6      if guess &lt; answer:</a:t>
            </a:r>
          </a:p>
          <a:p>
            <a:pPr>
              <a:spcAft>
                <a:spcPts val="200"/>
              </a:spcAft>
              <a:defRPr sz="1500" b="0">
                <a:solidFill>
                  <a:srgbClr val="E7EBF0"/>
                </a:solidFill>
                <a:latin typeface="Menlo"/>
              </a:defRPr>
            </a:pPr>
            <a:r>
              <a:t> 7          print("太小了")</a:t>
            </a:r>
          </a:p>
          <a:p>
            <a:pPr>
              <a:spcAft>
                <a:spcPts val="200"/>
              </a:spcAft>
              <a:defRPr sz="1500" b="1">
                <a:solidFill>
                  <a:srgbClr val="FFC444"/>
                </a:solidFill>
                <a:latin typeface="Menlo"/>
              </a:defRPr>
            </a:pPr>
            <a:r>
              <a:t> 8      elif guess &gt; answer:</a:t>
            </a:r>
          </a:p>
          <a:p>
            <a:pPr>
              <a:spcAft>
                <a:spcPts val="200"/>
              </a:spcAft>
              <a:defRPr sz="1500" b="0">
                <a:solidFill>
                  <a:srgbClr val="E7EBF0"/>
                </a:solidFill>
                <a:latin typeface="Menlo"/>
              </a:defRPr>
            </a:pPr>
            <a:r>
              <a:t> 9          print("太大了")</a:t>
            </a:r>
          </a:p>
          <a:p>
            <a:pPr>
              <a:spcAft>
                <a:spcPts val="200"/>
              </a:spcAft>
              <a:defRPr sz="1500" b="0">
                <a:solidFill>
                  <a:srgbClr val="E7EBF0"/>
                </a:solidFill>
                <a:latin typeface="Menlo"/>
              </a:defRPr>
            </a:pPr>
            <a:r>
              <a:t>10  </a:t>
            </a:r>
          </a:p>
          <a:p>
            <a:pPr>
              <a:spcAft>
                <a:spcPts val="200"/>
              </a:spcAft>
              <a:defRPr sz="1500" b="0">
                <a:solidFill>
                  <a:srgbClr val="E7EBF0"/>
                </a:solidFill>
                <a:latin typeface="Menlo"/>
              </a:defRPr>
            </a:pPr>
            <a:r>
              <a:t>11  print("猜对了！")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95360" y="1371600"/>
            <a:ext cx="2697480" cy="3977639"/>
          </a:xfrm>
          <a:prstGeom prst="roundRect">
            <a:avLst/>
          </a:prstGeom>
          <a:solidFill>
            <a:srgbClr val="DC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42832" y="1673352"/>
            <a:ext cx="2011680" cy="8412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defRPr sz="1800" b="1">
                <a:solidFill>
                  <a:srgbClr val="18314E"/>
                </a:solidFill>
                <a:latin typeface="Microsoft YaHei"/>
              </a:defRPr>
            </a:pPr>
            <a:r>
              <a:t>代码来源</a:t>
            </a:r>
            <a:br/>
            <a:r>
              <a:t>CODE-02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1392" y="2670048"/>
            <a:ext cx="2148840" cy="2240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232931"/>
                </a:solidFill>
                <a:latin typeface="Microsoft YaHei"/>
              </a:defRPr>
            </a:pPr>
            <a:r>
              <a:rPr>
                <a:solidFill>
                  <a:srgbClr val="2B8F67"/>
                </a:solidFill>
              </a:rPr>
              <a:t>●  循环读取输入</a:t>
            </a:r>
          </a:p>
          <a:p>
            <a:pPr>
              <a:spcAft>
                <a:spcPts val="1400"/>
              </a:spcAft>
              <a:defRPr sz="1500">
                <a:solidFill>
                  <a:srgbClr val="232931"/>
                </a:solidFill>
                <a:latin typeface="Microsoft YaHei"/>
              </a:defRPr>
            </a:pPr>
            <a:r>
              <a:rPr>
                <a:solidFill>
                  <a:srgbClr val="2B8F67"/>
                </a:solidFill>
              </a:rPr>
              <a:t>●  if / elif 给出反馈</a:t>
            </a:r>
          </a:p>
          <a:p>
            <a:pPr>
              <a:spcAft>
                <a:spcPts val="1400"/>
              </a:spcAft>
              <a:defRPr sz="1500">
                <a:solidFill>
                  <a:srgbClr val="232931"/>
                </a:solidFill>
                <a:latin typeface="Microsoft YaHei"/>
              </a:defRPr>
            </a:pPr>
            <a:r>
              <a:rPr>
                <a:solidFill>
                  <a:srgbClr val="2B8F67"/>
                </a:solidFill>
              </a:rPr>
              <a:t>●  猜中后退出并祝贺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6446520"/>
            <a:ext cx="402336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defRPr sz="900" b="0">
                <a:solidFill>
                  <a:srgbClr val="606A76"/>
                </a:solidFill>
                <a:latin typeface="Microsoft YaHei"/>
              </a:defRPr>
            </a:pPr>
            <a:r>
              <a:t>LessonCraft AI · STEP-05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69880" y="6446520"/>
            <a:ext cx="91440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r">
              <a:defRPr sz="900" b="0">
                <a:solidFill>
                  <a:srgbClr val="606A76"/>
                </a:solidFill>
                <a:latin typeface="Microsoft YaHei"/>
              </a:defRPr>
            </a:pPr>
            <a:r>
              <a:t>SLIDE-12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75488" y="411480"/>
            <a:ext cx="109728" cy="658368"/>
          </a:xfrm>
          <a:prstGeom prst="rect">
            <a:avLst/>
          </a:prstGeom>
          <a:solidFill>
            <a:srgbClr val="EC7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56032"/>
            <a:ext cx="10698480" cy="8961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defRPr sz="3400" b="1">
                <a:solidFill>
                  <a:srgbClr val="18314E"/>
                </a:solidFill>
                <a:latin typeface="Microsoft YaHei"/>
              </a:defRPr>
            </a:pPr>
            <a:r>
              <a:t>学生动手：完成并测试游戏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161288"/>
            <a:ext cx="10698480" cy="22860"/>
          </a:xfrm>
          <a:prstGeom prst="rect">
            <a:avLst/>
          </a:prstGeom>
          <a:solidFill>
            <a:srgbClr val="DC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508760"/>
            <a:ext cx="6400800" cy="3611880"/>
          </a:xfrm>
          <a:prstGeom prst="roundRect">
            <a:avLst/>
          </a:prstGeom>
          <a:solidFill>
            <a:srgbClr val="183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432" y="1810512"/>
            <a:ext cx="3657600" cy="4114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FFC444"/>
                </a:solidFill>
                <a:latin typeface="Microsoft YaHei"/>
              </a:defRPr>
            </a:pPr>
            <a:r>
              <a:t>YOUR 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" y="2286000"/>
            <a:ext cx="5650992" cy="19202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defRPr sz="2700" b="1">
                <a:solidFill>
                  <a:srgbClr val="FFFFFF"/>
                </a:solidFill>
                <a:latin typeface="Microsoft YaHei"/>
              </a:defRPr>
            </a:pPr>
            <a:r>
              <a:t>交换游戏，用偏小、偏大、正确三类输入测试，并记录一次发现。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1508760"/>
            <a:ext cx="3703320" cy="3611880"/>
          </a:xfrm>
          <a:prstGeom prst="roundRect">
            <a:avLst/>
          </a:prstGeom>
          <a:solidFill>
            <a:srgbClr val="DC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82127" y="1810512"/>
            <a:ext cx="2999232" cy="47548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defRPr sz="2200" b="1">
                <a:solidFill>
                  <a:srgbClr val="18314E"/>
                </a:solidFill>
                <a:latin typeface="Microsoft YaHei"/>
              </a:defRPr>
            </a:pPr>
            <a:r>
              <a:t>完成检查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82127" y="2514600"/>
            <a:ext cx="2926080" cy="21031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232931"/>
                </a:solidFill>
                <a:latin typeface="Microsoft YaHei"/>
              </a:defRPr>
            </a:pPr>
            <a:r>
              <a:rPr>
                <a:solidFill>
                  <a:srgbClr val="2B8F67"/>
                </a:solidFill>
              </a:rPr>
              <a:t>●  测试偏小输入</a:t>
            </a:r>
          </a:p>
          <a:p>
            <a:pPr>
              <a:spcAft>
                <a:spcPts val="1400"/>
              </a:spcAft>
              <a:defRPr sz="1900">
                <a:solidFill>
                  <a:srgbClr val="232931"/>
                </a:solidFill>
                <a:latin typeface="Microsoft YaHei"/>
              </a:defRPr>
            </a:pPr>
            <a:r>
              <a:rPr>
                <a:solidFill>
                  <a:srgbClr val="2B8F67"/>
                </a:solidFill>
              </a:rPr>
              <a:t>●  测试偏大输入</a:t>
            </a:r>
          </a:p>
          <a:p>
            <a:pPr>
              <a:spcAft>
                <a:spcPts val="1400"/>
              </a:spcAft>
              <a:defRPr sz="1900">
                <a:solidFill>
                  <a:srgbClr val="232931"/>
                </a:solidFill>
                <a:latin typeface="Microsoft YaHei"/>
              </a:defRPr>
            </a:pPr>
            <a:r>
              <a:rPr>
                <a:solidFill>
                  <a:srgbClr val="2B8F67"/>
                </a:solidFill>
              </a:rPr>
              <a:t>●  测试正确输入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5431536"/>
            <a:ext cx="10561320" cy="713232"/>
          </a:xfrm>
          <a:prstGeom prst="roundRect">
            <a:avLst/>
          </a:prstGeom>
          <a:solidFill>
            <a:srgbClr val="FFC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5559552"/>
            <a:ext cx="1143000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defRPr sz="1600" b="1">
                <a:solidFill>
                  <a:srgbClr val="18314E"/>
                </a:solidFill>
                <a:latin typeface="Microsoft YaHei"/>
              </a:defRPr>
            </a:pPr>
            <a:r>
              <a:t>动手做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84831" y="5495544"/>
            <a:ext cx="8915400" cy="5029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defRPr sz="2000" b="1">
                <a:solidFill>
                  <a:srgbClr val="18314E"/>
                </a:solidFill>
                <a:latin typeface="Microsoft YaHei"/>
              </a:defRPr>
            </a:pPr>
            <a:r>
              <a:t>完成后与同伴交换测试，并记录一个发现。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6446520"/>
            <a:ext cx="402336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defRPr sz="900" b="0">
                <a:solidFill>
                  <a:srgbClr val="606A76"/>
                </a:solidFill>
                <a:latin typeface="Microsoft YaHei"/>
              </a:defRPr>
            </a:pPr>
            <a:r>
              <a:t>LessonCraft AI · STEP-05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69880" y="6446520"/>
            <a:ext cx="91440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r">
              <a:defRPr sz="900" b="0">
                <a:solidFill>
                  <a:srgbClr val="606A76"/>
                </a:solidFill>
                <a:latin typeface="Microsoft YaHei"/>
              </a:defRPr>
            </a:pPr>
            <a:r>
              <a:t>SLIDE-13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31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424160" cy="8229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Microsoft YaHei"/>
              </a:defRPr>
            </a:pPr>
            <a:r>
              <a:t>记住这三件事</a:t>
            </a:r>
          </a:p>
        </p:txBody>
      </p:sp>
      <p:sp>
        <p:nvSpPr>
          <p:cNvPr id="3" name="Oval 2"/>
          <p:cNvSpPr/>
          <p:nvPr/>
        </p:nvSpPr>
        <p:spPr>
          <a:xfrm>
            <a:off x="914400" y="1645920"/>
            <a:ext cx="713232" cy="713232"/>
          </a:xfrm>
          <a:prstGeom prst="ellipse">
            <a:avLst/>
          </a:prstGeom>
          <a:solidFill>
            <a:srgbClr val="FFC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73352"/>
            <a:ext cx="713232" cy="5943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defRPr sz="2100" b="1">
                <a:solidFill>
                  <a:srgbClr val="18314E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4519" y="1627632"/>
            <a:ext cx="8823960" cy="74980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while 循环会在条件为 True 时重复执行一组代码。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2788920"/>
            <a:ext cx="713232" cy="713232"/>
          </a:xfrm>
          <a:prstGeom prst="ellipse">
            <a:avLst/>
          </a:prstGeom>
          <a:solidFill>
            <a:srgbClr val="FFC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816351"/>
            <a:ext cx="713232" cy="5943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defRPr sz="2100" b="1">
                <a:solidFill>
                  <a:srgbClr val="18314E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2770632"/>
            <a:ext cx="8823960" cy="74980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循环条件决定循环是否继续执行，每次循环前都会重新判断。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931920"/>
            <a:ext cx="713232" cy="713232"/>
          </a:xfrm>
          <a:prstGeom prst="ellipse">
            <a:avLst/>
          </a:prstGeom>
          <a:solidFill>
            <a:srgbClr val="FFC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59352"/>
            <a:ext cx="713232" cy="5943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defRPr sz="2100" b="1">
                <a:solidFill>
                  <a:srgbClr val="18314E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913632"/>
            <a:ext cx="8823960" cy="74980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循环变量是在循环过程中被更新、并帮助循环最终停止的变量。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5193792"/>
            <a:ext cx="10332720" cy="685800"/>
          </a:xfrm>
          <a:prstGeom prst="roundRect">
            <a:avLst/>
          </a:prstGeom>
          <a:solidFill>
            <a:srgbClr val="2A69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5330952"/>
            <a:ext cx="9692640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  <a:latin typeface="Microsoft YaHei"/>
              </a:defRPr>
            </a:pPr>
            <a:r>
              <a:t>用一句话说明 while 循环何时继续、何时停止。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0" y="6419088"/>
            <a:ext cx="91440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r">
              <a:defRPr sz="900" b="0">
                <a:solidFill>
                  <a:srgbClr val="DCEEFA"/>
                </a:solidFill>
                <a:latin typeface="Microsoft YaHei"/>
              </a:defRPr>
            </a:pPr>
            <a:r>
              <a:t>SLIDE-14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75488" y="411480"/>
            <a:ext cx="109728" cy="658368"/>
          </a:xfrm>
          <a:prstGeom prst="rect">
            <a:avLst/>
          </a:prstGeom>
          <a:solidFill>
            <a:srgbClr val="EC7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56032"/>
            <a:ext cx="10698480" cy="8961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defRPr sz="3400" b="1">
                <a:solidFill>
                  <a:srgbClr val="18314E"/>
                </a:solidFill>
                <a:latin typeface="Microsoft YaHei"/>
              </a:defRPr>
            </a:pPr>
            <a:r>
              <a:t>课后挑战：让游戏更完整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161288"/>
            <a:ext cx="10698480" cy="22860"/>
          </a:xfrm>
          <a:prstGeom prst="rect">
            <a:avLst/>
          </a:prstGeom>
          <a:solidFill>
            <a:srgbClr val="DC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508760"/>
            <a:ext cx="6400800" cy="3611880"/>
          </a:xfrm>
          <a:prstGeom prst="roundRect">
            <a:avLst/>
          </a:prstGeom>
          <a:solidFill>
            <a:srgbClr val="183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432" y="1810512"/>
            <a:ext cx="3657600" cy="4114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defRPr sz="1500" b="1">
                <a:solidFill>
                  <a:srgbClr val="FFC444"/>
                </a:solidFill>
                <a:latin typeface="Microsoft YaHei"/>
              </a:defRPr>
            </a:pPr>
            <a:r>
              <a:t>YOUR 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" y="2286000"/>
            <a:ext cx="5650992" cy="19202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defRPr sz="2700" b="1">
                <a:solidFill>
                  <a:srgbClr val="FFFFFF"/>
                </a:solidFill>
                <a:latin typeface="Microsoft YaHei"/>
              </a:defRPr>
            </a:pPr>
            <a:r>
              <a:t>在完整游戏中增加猜测次数统计，并在猜中后显示次数。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1508760"/>
            <a:ext cx="3703320" cy="3611880"/>
          </a:xfrm>
          <a:prstGeom prst="roundRect">
            <a:avLst/>
          </a:prstGeom>
          <a:solidFill>
            <a:srgbClr val="DC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82127" y="1810512"/>
            <a:ext cx="2999232" cy="47548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defRPr sz="2200" b="1">
                <a:solidFill>
                  <a:srgbClr val="18314E"/>
                </a:solidFill>
                <a:latin typeface="Microsoft YaHei"/>
              </a:defRPr>
            </a:pPr>
            <a:r>
              <a:t>完成检查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82127" y="2514600"/>
            <a:ext cx="2926080" cy="21031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232931"/>
                </a:solidFill>
                <a:latin typeface="Microsoft YaHei"/>
              </a:defRPr>
            </a:pPr>
            <a:r>
              <a:rPr>
                <a:solidFill>
                  <a:srgbClr val="2B8F67"/>
                </a:solidFill>
              </a:rPr>
              <a:t>●  保留原有功能</a:t>
            </a:r>
          </a:p>
          <a:p>
            <a:pPr>
              <a:spcAft>
                <a:spcPts val="1400"/>
              </a:spcAft>
              <a:defRPr sz="1900">
                <a:solidFill>
                  <a:srgbClr val="232931"/>
                </a:solidFill>
                <a:latin typeface="Microsoft YaHei"/>
              </a:defRPr>
            </a:pPr>
            <a:r>
              <a:rPr>
                <a:solidFill>
                  <a:srgbClr val="2B8F67"/>
                </a:solidFill>
              </a:rPr>
              <a:t>●  说明你新增了什么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6446520"/>
            <a:ext cx="402336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defRPr sz="900" b="0">
                <a:solidFill>
                  <a:srgbClr val="606A76"/>
                </a:solidFill>
                <a:latin typeface="Microsoft YaHei"/>
              </a:defRPr>
            </a:pPr>
            <a:r>
              <a:t>LessonCraft AI · STEP-06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69880" y="6446520"/>
            <a:ext cx="91440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r">
              <a:defRPr sz="900" b="0">
                <a:solidFill>
                  <a:srgbClr val="606A76"/>
                </a:solidFill>
                <a:latin typeface="Microsoft YaHei"/>
              </a:defRPr>
            </a:pPr>
            <a:r>
              <a:t>SLIDE-15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猜数字游戏：用 while 让游戏继续</dc:title>
  <dc:subject>少儿编程课堂课件</dc:subject>
  <dc:creator>LessonCraft AI</dc:creator>
  <cp:keywords/>
  <dc:description>全部内容由 Course Blueprint 派生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