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先用最终作品建立期待，不展开知识定义。请学生说说今天这个程序需要解决什么问题。接下来先体验一次只允许猜一次的版本。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先描述第一次猜错后游戏结束的体验冲突，让学生提出“重复”的需求。运行一次只能猜一次的版本，并追问程序怎样回到输入的位置。接下来把学生的想法整理成课程挑战。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把学习目标说明成允许重复输入、给出大小提示、猜中后停止并祝贺这三个作品标准。请学生思考完成后要用哪三种输入测试游戏。接下来找出我们已经会用的工具。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快速激活变量、input 和 if，不重新讲授旧知识。请学生判断哪一个工具只能判断一次，并指出当前仍缺少重复判断。接下来认识负责“重复”的新工具。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while 循环在条件为 True 时重复执行一组代码，并在每轮开始前重新判断条件。请学生思考条件变成 False 后程序会去哪里。不要把 while 解释成固定重复次数，接下来用流程连接判断和重复。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沿着判断条件、执行缩进代码、回到条件再次判断的顺序指读一遍。用手指沿流程走一圈，并请学生预测条件连续三次为 True 时循环体会执行几次。接下来把流程变成全班可参与的循环。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先宣布人体循环规则，再开始动作。请两名学生分别扮演条件与循环体，并在结束后追问为什么这一轮停下。接下来把刚才的动作规则写成最小代码。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逐行观察 CODE-01，重点看 guess 每轮更新，以及 guess 等于 answer 后条件如何变为 False。请学生指出哪一行让条件有机会变成 False，并提醒 input 必须位于循环体内。接下来先不运行，预测不同输入会走几轮。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先收集学生对输入三和七时循环执行次数的预测，再运行同一份 Blueprint 代码验证。不要直接公布答案，让学生用 True 和 False 的变化解释结果。接下来在最小循环中加入大小提示。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先明确成功标准，再让学生补全半成品。请学生判断大小判断应该放在 while 的里面还是外面，并只演示缩进位置，不提供新的代码版本。接下来在动手前诊断常见错误。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让学生先说出检查条件、缩进和变量更新的诊断顺序，不直接替学生修改代码。演示手动终止后再定位错误，避免让无法安全终止的死循环运行太久。接下来带着调试清单完成完整项目。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输入和大小判断都位于循环体内，所以每次猜测后都会得到反馈并继续判断。运行 CODE-02 的偏小、偏大和正确三类测试输入，请学生说明完整代码怎样满足三个作品标准。保持 Blueprint 原始代码，不现场改写另一个版本。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学生独立完成作品时，用完成标准巡视，不逐行替学生写代码。请同伴输入偏小、偏大和正确三类测试数据，并让学生用测试证据说明游戏能正确停止。接下来用测试证据回到本课核心结论。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先让学生复述，再显示标准术语。请学生用一句话说明 while 循环何时继续、何时停止，不要把总结变成重新讲一遍整节课。最后选择一个挑战继续升级作品。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只说明增加猜测次数统计的任务和验收标准，不在课堂末尾给出完整答案。请学生说说准备先修改哪一部分。课程结束后保存作品与测试记录。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craft_guess_number_polish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craft_guess_number_polish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020300" y="38100"/>
            <a:ext cx="2057400" cy="205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477500" y="3810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14400" y="819150"/>
            <a:ext cx="10477500" cy="5334000"/>
            <a:chOff x="914400" y="819150"/>
            <a:chExt cx="10477500" cy="5334000"/>
          </a:xfrm>
        </p:grpSpPr>
        <p:sp>
          <p:nvSpPr>
            <p:cNvPr id="4" name="Rectangle 4"/>
            <p:cNvSpPr/>
            <p:nvPr/>
          </p:nvSpPr>
          <p:spPr>
            <a:xfrm>
              <a:off x="1028700" y="9334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8191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14400" y="819150"/>
              <a:ext cx="103632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19200" y="1085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485900" y="1085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752600" y="1085850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900" y="1104900"/>
              <a:ext cx="2286000" cy="1143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1104900"/>
              <a:ext cx="14097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733550" y="1965960"/>
            <a:ext cx="8944127" cy="2418969"/>
            <a:chOff x="1733550" y="1965960"/>
            <a:chExt cx="8944127" cy="2418969"/>
          </a:xfrm>
        </p:grpSpPr>
        <p:sp>
          <p:nvSpPr>
            <p:cNvPr id="13" name="TextBox 13"/>
            <p:cNvSpPr txBox="1"/>
            <p:nvPr/>
          </p:nvSpPr>
          <p:spPr>
            <a:xfrm>
              <a:off x="1733550" y="1965960"/>
              <a:ext cx="57911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猜数字游戏：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3550" y="2689860"/>
              <a:ext cx="541085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while 让游戏继续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52600" y="3524250"/>
              <a:ext cx="6858000" cy="19050"/>
            </a:xfrm>
            <a:prstGeom prst="rect">
              <a:avLst/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35836" y="3739515"/>
              <a:ext cx="8941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· 10～12 岁理解并使用 while 循环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2600" y="4533900"/>
            <a:ext cx="6591300" cy="685800"/>
            <a:chOff x="1752600" y="4533900"/>
            <a:chExt cx="6591300" cy="685800"/>
          </a:xfrm>
        </p:grpSpPr>
        <p:sp>
          <p:nvSpPr>
            <p:cNvPr id="18" name="Rectangle 18"/>
            <p:cNvSpPr/>
            <p:nvPr/>
          </p:nvSpPr>
          <p:spPr>
            <a:xfrm>
              <a:off x="1752600" y="4533900"/>
              <a:ext cx="65913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 w="19050">
              <a:solidFill>
                <a:srgbClr val="52718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000250" y="47625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88108" y="4732020"/>
              <a:ext cx="55540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从问题出发 · 用代码验证 · 完成作品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34450" y="4438650"/>
            <a:ext cx="1428750" cy="781050"/>
            <a:chOff x="8934450" y="4438650"/>
            <a:chExt cx="1428750" cy="781050"/>
          </a:xfrm>
        </p:grpSpPr>
        <p:sp>
          <p:nvSpPr>
            <p:cNvPr id="22" name="Rectangle 22"/>
            <p:cNvSpPr/>
            <p:nvPr/>
          </p:nvSpPr>
          <p:spPr>
            <a:xfrm>
              <a:off x="8934450" y="4438650"/>
              <a:ext cx="1428750" cy="781050"/>
            </a:xfrm>
            <a:prstGeom prst="roundRect">
              <a:avLst>
                <a:gd name="adj" fmla="val 1951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220200" y="47148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896475" y="4629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067925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91625" y="4791075"/>
              <a:ext cx="285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96400" y="4686300"/>
              <a:ext cx="762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8060665" cy="842010"/>
            <a:chOff x="457200" y="400050"/>
            <a:chExt cx="8060665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情境导入：一次没猜中怎么办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300" y="1390650"/>
            <a:ext cx="10325100" cy="2533650"/>
            <a:chOff x="876300" y="1390650"/>
            <a:chExt cx="10325100" cy="2533650"/>
          </a:xfrm>
        </p:grpSpPr>
        <p:sp>
          <p:nvSpPr>
            <p:cNvPr id="6" name="Rectangle 6"/>
            <p:cNvSpPr/>
            <p:nvPr/>
          </p:nvSpPr>
          <p:spPr>
            <a:xfrm>
              <a:off x="990600" y="15049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rgbClr val="C5DE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76300" y="13906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57300" y="20478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75" y="23374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237788" y="1722438"/>
              <a:ext cx="460475" cy="462565"/>
            </a:xfrm>
            <a:custGeom>
              <a:avLst/>
              <a:gdLst/>
              <a:ahLst/>
              <a:cxnLst/>
              <a:rect l="l" t="t" r="r" b="b"/>
              <a:pathLst>
                <a:path w="460475" h="462565">
                  <a:moveTo>
                    <a:pt x="230188" y="0"/>
                  </a:moveTo>
                  <a:cubicBezTo>
                    <a:pt x="357321" y="0"/>
                    <a:pt x="460376" y="103055"/>
                    <a:pt x="460376" y="230188"/>
                  </a:cubicBezTo>
                  <a:cubicBezTo>
                    <a:pt x="460475" y="355934"/>
                    <a:pt x="359647" y="458490"/>
                    <a:pt x="233917" y="460528"/>
                  </a:cubicBezTo>
                  <a:cubicBezTo>
                    <a:pt x="108188" y="462565"/>
                    <a:pt x="4090" y="363329"/>
                    <a:pt x="115" y="237646"/>
                  </a:cubicBezTo>
                  <a:lnTo>
                    <a:pt x="0" y="230188"/>
                  </a:lnTo>
                  <a:lnTo>
                    <a:pt x="92" y="223743"/>
                  </a:lnTo>
                  <a:cubicBezTo>
                    <a:pt x="3499" y="99602"/>
                    <a:pt x="105196" y="0"/>
                    <a:pt x="230188" y="0"/>
                  </a:cubicBezTo>
                  <a:close/>
                  <a:moveTo>
                    <a:pt x="230188" y="299244"/>
                  </a:moveTo>
                  <a:cubicBezTo>
                    <a:pt x="218518" y="299246"/>
                    <a:pt x="208696" y="307980"/>
                    <a:pt x="207330" y="319570"/>
                  </a:cubicBezTo>
                  <a:lnTo>
                    <a:pt x="207169" y="322263"/>
                  </a:lnTo>
                  <a:lnTo>
                    <a:pt x="207330" y="325186"/>
                  </a:lnTo>
                  <a:cubicBezTo>
                    <a:pt x="208708" y="336766"/>
                    <a:pt x="218527" y="345486"/>
                    <a:pt x="230188" y="345486"/>
                  </a:cubicBezTo>
                  <a:cubicBezTo>
                    <a:pt x="241849" y="345486"/>
                    <a:pt x="251668" y="336766"/>
                    <a:pt x="253045" y="325186"/>
                  </a:cubicBezTo>
                  <a:lnTo>
                    <a:pt x="253207" y="322493"/>
                  </a:lnTo>
                  <a:lnTo>
                    <a:pt x="253045" y="319570"/>
                  </a:lnTo>
                  <a:cubicBezTo>
                    <a:pt x="251680" y="307980"/>
                    <a:pt x="241858" y="299246"/>
                    <a:pt x="230188" y="299244"/>
                  </a:cubicBezTo>
                  <a:close/>
                  <a:moveTo>
                    <a:pt x="261678" y="145640"/>
                  </a:moveTo>
                  <a:cubicBezTo>
                    <a:pt x="233306" y="131136"/>
                    <a:pt x="198683" y="138077"/>
                    <a:pt x="178096" y="162398"/>
                  </a:cubicBezTo>
                  <a:cubicBezTo>
                    <a:pt x="170182" y="171668"/>
                    <a:pt x="170867" y="185502"/>
                    <a:pt x="179659" y="193945"/>
                  </a:cubicBezTo>
                  <a:cubicBezTo>
                    <a:pt x="188450" y="202388"/>
                    <a:pt x="202300" y="202515"/>
                    <a:pt x="211243" y="194232"/>
                  </a:cubicBezTo>
                  <a:lnTo>
                    <a:pt x="215180" y="190089"/>
                  </a:lnTo>
                  <a:cubicBezTo>
                    <a:pt x="222135" y="183705"/>
                    <a:pt x="232330" y="182327"/>
                    <a:pt x="240730" y="186636"/>
                  </a:cubicBezTo>
                  <a:cubicBezTo>
                    <a:pt x="249810" y="191232"/>
                    <a:pt x="254795" y="201244"/>
                    <a:pt x="252990" y="211259"/>
                  </a:cubicBezTo>
                  <a:cubicBezTo>
                    <a:pt x="251184" y="221273"/>
                    <a:pt x="243017" y="228914"/>
                    <a:pt x="232904" y="230050"/>
                  </a:cubicBezTo>
                  <a:lnTo>
                    <a:pt x="227564" y="230326"/>
                  </a:lnTo>
                  <a:cubicBezTo>
                    <a:pt x="215407" y="231664"/>
                    <a:pt x="206418" y="242275"/>
                    <a:pt x="207098" y="254486"/>
                  </a:cubicBezTo>
                  <a:cubicBezTo>
                    <a:pt x="207778" y="266697"/>
                    <a:pt x="217888" y="276245"/>
                    <a:pt x="230119" y="276225"/>
                  </a:cubicBezTo>
                  <a:cubicBezTo>
                    <a:pt x="262086" y="276321"/>
                    <a:pt x="289941" y="254464"/>
                    <a:pt x="297450" y="223391"/>
                  </a:cubicBezTo>
                  <a:cubicBezTo>
                    <a:pt x="304960" y="192318"/>
                    <a:pt x="290161" y="160153"/>
                    <a:pt x="261678" y="1456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07386" y="2120265"/>
              <a:ext cx="6634353" cy="12550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如果第一次没猜中，程序怎样回到输入的位置？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6300" y="4286250"/>
            <a:ext cx="4933950" cy="1066800"/>
            <a:chOff x="876300" y="4286250"/>
            <a:chExt cx="4933950" cy="1066800"/>
          </a:xfrm>
        </p:grpSpPr>
        <p:sp>
          <p:nvSpPr>
            <p:cNvPr id="13" name="Rectangle 13"/>
            <p:cNvSpPr/>
            <p:nvPr/>
          </p:nvSpPr>
          <p:spPr>
            <a:xfrm>
              <a:off x="876300" y="4286250"/>
              <a:ext cx="493395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43000" y="47053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7320" y="4681538"/>
              <a:ext cx="41573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第一次猜错后，游戏结束了。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0" y="4286250"/>
            <a:ext cx="5048250" cy="1066800"/>
            <a:chOff x="6038850" y="4286250"/>
            <a:chExt cx="504825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038850" y="4286250"/>
              <a:ext cx="504825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30555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2458" y="4665345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我们希望玩家可以继续猜。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0"/>
            <a:ext cx="4762500" cy="2667000"/>
          </a:xfrm>
          <a:custGeom>
            <a:avLst/>
            <a:gdLst/>
            <a:ahLst/>
            <a:cxnLst/>
            <a:rect l="l" t="t" r="r" b="b"/>
            <a:pathLst>
              <a:path w="4762500" h="2667000">
                <a:moveTo>
                  <a:pt x="0" y="762000"/>
                </a:moveTo>
                <a:cubicBezTo>
                  <a:pt x="2000250" y="0"/>
                  <a:pt x="3143250" y="666750"/>
                  <a:pt x="4762500" y="2667000"/>
                </a:cubicBezTo>
                <a:lnTo>
                  <a:pt x="0" y="2667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0550" y="567690"/>
            <a:ext cx="7755865" cy="1207770"/>
            <a:chOff x="590550" y="567690"/>
            <a:chExt cx="7755865" cy="1207770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567690"/>
              <a:ext cx="2690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COURSE CHALLENGE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563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今天的挑战：猜中前一直继续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171700"/>
            <a:ext cx="3371850" cy="2324100"/>
            <a:chOff x="609600" y="2171700"/>
            <a:chExt cx="3371850" cy="2324100"/>
          </a:xfrm>
        </p:grpSpPr>
        <p:sp>
          <p:nvSpPr>
            <p:cNvPr id="6" name="Rectangle 6"/>
            <p:cNvSpPr/>
            <p:nvPr/>
          </p:nvSpPr>
          <p:spPr>
            <a:xfrm>
              <a:off x="723900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668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0965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8408" y="36461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允许重复输入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7225" y="2171700"/>
            <a:ext cx="3371850" cy="2324100"/>
            <a:chOff x="4467225" y="2171700"/>
            <a:chExt cx="3371850" cy="2324100"/>
          </a:xfrm>
        </p:grpSpPr>
        <p:sp>
          <p:nvSpPr>
            <p:cNvPr id="13" name="Rectangle 13"/>
            <p:cNvSpPr/>
            <p:nvPr/>
          </p:nvSpPr>
          <p:spPr>
            <a:xfrm>
              <a:off x="4581525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67225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95825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4311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867275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36033" y="36461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每次给出大小提示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24850" y="2171700"/>
            <a:ext cx="3257550" cy="2324100"/>
            <a:chOff x="8324850" y="2171700"/>
            <a:chExt cx="3257550" cy="2324100"/>
          </a:xfrm>
        </p:grpSpPr>
        <p:sp>
          <p:nvSpPr>
            <p:cNvPr id="20" name="Rectangle 20"/>
            <p:cNvSpPr/>
            <p:nvPr/>
          </p:nvSpPr>
          <p:spPr>
            <a:xfrm>
              <a:off x="8439150" y="22860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24850" y="21717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553450" y="2438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193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2490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3658" y="3522345"/>
              <a:ext cx="16245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猜中后停止并祝贺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71850" y="5114925"/>
            <a:ext cx="5448300" cy="342900"/>
            <a:chOff x="3371850" y="5114925"/>
            <a:chExt cx="5448300" cy="342900"/>
          </a:xfrm>
        </p:grpSpPr>
        <p:sp>
          <p:nvSpPr>
            <p:cNvPr id="27" name="Line 27"/>
            <p:cNvSpPr/>
            <p:nvPr/>
          </p:nvSpPr>
          <p:spPr>
            <a:xfrm>
              <a:off x="3543300" y="52863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76200" cap="rnd">
              <a:solidFill>
                <a:srgbClr val="B9D8ED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71850" y="511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924550" y="511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477250" y="5114925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5D7080"/>
                </a:solidFill>
                <a:latin typeface="+mn-lt"/>
                <a:ea typeface="+mn-ea"/>
                <a:cs typeface="+mn-cs"/>
              </a:rPr>
              <a:t>SLIDE-03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498619" cy="842010"/>
            <a:chOff x="457200" y="400050"/>
            <a:chExt cx="449861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1938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旧工具够用吗？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90650"/>
            <a:ext cx="5334000" cy="3276600"/>
            <a:chOff x="457200" y="1390650"/>
            <a:chExt cx="5334000" cy="32766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7145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49808" y="1846613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7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已经会用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08" y="2465070"/>
              <a:ext cx="2545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变量：保存答案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4108" y="3093720"/>
              <a:ext cx="27066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input：读取猜测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108" y="3722370"/>
              <a:ext cx="2173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if：判断一次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72200" y="1390650"/>
            <a:ext cx="5562600" cy="3276600"/>
            <a:chOff x="6172200" y="1390650"/>
            <a:chExt cx="5562600" cy="32766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5049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13906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57950" y="17145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12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还需解决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7208" y="2788920"/>
              <a:ext cx="26711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2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缺少：重复判断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4991100"/>
            <a:ext cx="11277600" cy="933450"/>
            <a:chOff x="457200" y="4991100"/>
            <a:chExt cx="11277600" cy="933450"/>
          </a:xfrm>
        </p:grpSpPr>
        <p:sp>
          <p:nvSpPr>
            <p:cNvPr id="20" name="Rectangle 20"/>
            <p:cNvSpPr/>
            <p:nvPr/>
          </p:nvSpPr>
          <p:spPr>
            <a:xfrm>
              <a:off x="457200" y="4991100"/>
              <a:ext cx="11277600" cy="933450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5191125"/>
              <a:ext cx="10287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0956" y="534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选一选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9008" y="53035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哪一个工具只能判断一次，不能让游戏继续？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5" name="TextBox 25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82200" y="4552950"/>
            <a:ext cx="2133600" cy="213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7912246" cy="842010"/>
            <a:chOff x="457200" y="400050"/>
            <a:chExt cx="791224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6074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 循环：条件为真就继续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466850"/>
            <a:ext cx="6191250" cy="3219450"/>
            <a:chOff x="457200" y="1466850"/>
            <a:chExt cx="6191250" cy="3219450"/>
          </a:xfrm>
        </p:grpSpPr>
        <p:sp>
          <p:nvSpPr>
            <p:cNvPr id="6" name="Rectangle 6"/>
            <p:cNvSpPr/>
            <p:nvPr/>
          </p:nvSpPr>
          <p:spPr>
            <a:xfrm>
              <a:off x="571500" y="15811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668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866900"/>
              <a:ext cx="16002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38200" y="2076450"/>
              <a:ext cx="9906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008" y="2674620"/>
              <a:ext cx="4360926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75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38200" y="3619500"/>
              <a:ext cx="5238750" cy="590550"/>
            </a:xfrm>
            <a:custGeom>
              <a:avLst/>
              <a:gdLst/>
              <a:ahLst/>
              <a:cxnLst/>
              <a:rect l="l" t="t" r="r" b="b"/>
              <a:pathLst>
                <a:path w="5238750" h="590550">
                  <a:moveTo>
                    <a:pt x="0" y="342900"/>
                  </a:moveTo>
                  <a:cubicBezTo>
                    <a:pt x="1162050" y="0"/>
                    <a:pt x="2362200" y="590550"/>
                    <a:pt x="3543300" y="247650"/>
                  </a:cubicBezTo>
                  <a:cubicBezTo>
                    <a:pt x="4191000" y="57150"/>
                    <a:pt x="4667250" y="57150"/>
                    <a:pt x="5238750" y="20955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029450" y="1581150"/>
            <a:ext cx="4248150" cy="1162050"/>
            <a:chOff x="7029450" y="1581150"/>
            <a:chExt cx="4248150" cy="1162050"/>
          </a:xfrm>
        </p:grpSpPr>
        <p:sp>
          <p:nvSpPr>
            <p:cNvPr id="13" name="Rectangle 13"/>
            <p:cNvSpPr/>
            <p:nvPr/>
          </p:nvSpPr>
          <p:spPr>
            <a:xfrm>
              <a:off x="7029450" y="158115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1952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74508" y="1760220"/>
              <a:ext cx="2260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True：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4508" y="221742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执行并再次判断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29450" y="3124200"/>
            <a:ext cx="4248150" cy="1162050"/>
            <a:chOff x="7029450" y="3124200"/>
            <a:chExt cx="4248150" cy="1162050"/>
          </a:xfrm>
        </p:grpSpPr>
        <p:sp>
          <p:nvSpPr>
            <p:cNvPr id="18" name="Rectangle 18"/>
            <p:cNvSpPr/>
            <p:nvPr/>
          </p:nvSpPr>
          <p:spPr>
            <a:xfrm>
              <a:off x="7029450" y="312420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FFF0C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315200" y="34956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4508" y="3303270"/>
              <a:ext cx="23573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False：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4508" y="37604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离开循环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781300" y="4895850"/>
            <a:ext cx="5810250" cy="723900"/>
            <a:chOff x="2781300" y="4895850"/>
            <a:chExt cx="5810250" cy="723900"/>
          </a:xfrm>
        </p:grpSpPr>
        <p:sp>
          <p:nvSpPr>
            <p:cNvPr id="23" name="Freeform 23"/>
            <p:cNvSpPr/>
            <p:nvPr/>
          </p:nvSpPr>
          <p:spPr>
            <a:xfrm>
              <a:off x="2952750" y="4895850"/>
              <a:ext cx="5638800" cy="723900"/>
            </a:xfrm>
            <a:custGeom>
              <a:avLst/>
              <a:gdLst/>
              <a:ahLst/>
              <a:cxnLst/>
              <a:rect l="l" t="t" r="r" b="b"/>
              <a:pathLst>
                <a:path w="5638800" h="723900">
                  <a:moveTo>
                    <a:pt x="0" y="419100"/>
                  </a:moveTo>
                  <a:cubicBezTo>
                    <a:pt x="1143000" y="0"/>
                    <a:pt x="2419350" y="0"/>
                    <a:pt x="3581400" y="419100"/>
                  </a:cubicBezTo>
                  <a:cubicBezTo>
                    <a:pt x="4400550" y="723900"/>
                    <a:pt x="5143500" y="666750"/>
                    <a:pt x="5638800" y="32385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8372475" y="5172075"/>
              <a:ext cx="219075" cy="209550"/>
            </a:xfrm>
            <a:custGeom>
              <a:avLst/>
              <a:gdLst/>
              <a:ahLst/>
              <a:cxnLst/>
              <a:rect l="l" t="t" r="r" b="b"/>
              <a:pathLst>
                <a:path w="219075" h="209550">
                  <a:moveTo>
                    <a:pt x="219075" y="47625"/>
                  </a:moveTo>
                  <a:lnTo>
                    <a:pt x="0" y="0"/>
                  </a:lnTo>
                  <a:lnTo>
                    <a:pt x="104775" y="209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781300" y="51435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362700" y="51435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7650" y="0"/>
            <a:ext cx="4324350" cy="1714500"/>
          </a:xfrm>
          <a:custGeom>
            <a:avLst/>
            <a:gdLst/>
            <a:ahLst/>
            <a:cxnLst/>
            <a:rect l="l" t="t" r="r" b="b"/>
            <a:pathLst>
              <a:path w="4324350" h="1714500">
                <a:moveTo>
                  <a:pt x="0" y="0"/>
                </a:moveTo>
                <a:lnTo>
                  <a:pt x="4324350" y="0"/>
                </a:lnTo>
                <a:lnTo>
                  <a:pt x="4324350" y="1619250"/>
                </a:lnTo>
                <a:cubicBezTo>
                  <a:pt x="2800350" y="1295400"/>
                  <a:pt x="1543050" y="1714500"/>
                  <a:pt x="0" y="1047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先判断，再执行，再回去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1524000"/>
            <a:ext cx="3143250" cy="2038350"/>
            <a:chOff x="514350" y="1524000"/>
            <a:chExt cx="3143250" cy="2038350"/>
          </a:xfrm>
        </p:grpSpPr>
        <p:sp>
          <p:nvSpPr>
            <p:cNvPr id="6" name="Rectangle 6"/>
            <p:cNvSpPr/>
            <p:nvPr/>
          </p:nvSpPr>
          <p:spPr>
            <a:xfrm>
              <a:off x="514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4108" y="27127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判断循环条件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2286" y="2158365"/>
            <a:ext cx="290080" cy="645414"/>
            <a:chOff x="3812286" y="2158365"/>
            <a:chExt cx="290080" cy="645414"/>
          </a:xfrm>
        </p:grpSpPr>
        <p:sp>
          <p:nvSpPr>
            <p:cNvPr id="11" name="TextBox 11"/>
            <p:cNvSpPr txBox="1"/>
            <p:nvPr/>
          </p:nvSpPr>
          <p:spPr>
            <a:xfrm>
              <a:off x="38122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4850" y="1524000"/>
            <a:ext cx="3143250" cy="2038350"/>
            <a:chOff x="4514850" y="1524000"/>
            <a:chExt cx="31432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16383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14850" y="15240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7625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57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46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执行缩进代码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2786" y="2158365"/>
            <a:ext cx="290080" cy="645414"/>
            <a:chOff x="7812786" y="2158365"/>
            <a:chExt cx="290080" cy="645414"/>
          </a:xfrm>
        </p:grpSpPr>
        <p:sp>
          <p:nvSpPr>
            <p:cNvPr id="19" name="TextBox 19"/>
            <p:cNvSpPr txBox="1"/>
            <p:nvPr/>
          </p:nvSpPr>
          <p:spPr>
            <a:xfrm>
              <a:off x="78127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15350" y="1524000"/>
            <a:ext cx="3143250" cy="2038350"/>
            <a:chOff x="8515350" y="1524000"/>
            <a:chExt cx="3143250" cy="2038350"/>
          </a:xfrm>
        </p:grpSpPr>
        <p:sp>
          <p:nvSpPr>
            <p:cNvPr id="21" name="Rectangle 21"/>
            <p:cNvSpPr/>
            <p:nvPr/>
          </p:nvSpPr>
          <p:spPr>
            <a:xfrm>
              <a:off x="8515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0" y="1733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6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65108" y="2465070"/>
              <a:ext cx="130454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回到条件再次判断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4305300"/>
            <a:ext cx="10363200" cy="1257300"/>
            <a:chOff x="914400" y="4305300"/>
            <a:chExt cx="10363200" cy="1257300"/>
          </a:xfrm>
        </p:grpSpPr>
        <p:sp>
          <p:nvSpPr>
            <p:cNvPr id="26" name="Rectangle 26"/>
            <p:cNvSpPr/>
            <p:nvPr/>
          </p:nvSpPr>
          <p:spPr>
            <a:xfrm>
              <a:off x="914400" y="4305300"/>
              <a:ext cx="10363200" cy="1257300"/>
            </a:xfrm>
            <a:prstGeom prst="roundRect">
              <a:avLst>
                <a:gd name="adj" fmla="val 12121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82074" y="4635500"/>
              <a:ext cx="445751" cy="444499"/>
              <a:chOff x="1282074" y="4635500"/>
              <a:chExt cx="445751" cy="4444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82074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482725" y="4635500"/>
                <a:ext cx="44450" cy="673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7301">
                    <a:moveTo>
                      <a:pt x="22225" y="0"/>
                    </a:moveTo>
                    <a:cubicBezTo>
                      <a:pt x="33492" y="1"/>
                      <a:pt x="42976" y="8435"/>
                      <a:pt x="44294" y="19625"/>
                    </a:cubicBezTo>
                    <a:lnTo>
                      <a:pt x="44450" y="22225"/>
                    </a:lnTo>
                    <a:lnTo>
                      <a:pt x="44450" y="44450"/>
                    </a:lnTo>
                    <a:cubicBezTo>
                      <a:pt x="44437" y="56209"/>
                      <a:pt x="35266" y="65923"/>
                      <a:pt x="23527" y="66612"/>
                    </a:cubicBezTo>
                    <a:cubicBezTo>
                      <a:pt x="11789" y="67301"/>
                      <a:pt x="1544" y="58727"/>
                      <a:pt x="156" y="47050"/>
                    </a:cubicBezTo>
                    <a:lnTo>
                      <a:pt x="0" y="44450"/>
                    </a:ln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659898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38321" y="4691089"/>
                <a:ext cx="64338" cy="64704"/>
              </a:xfrm>
              <a:custGeom>
                <a:avLst/>
                <a:gdLst/>
                <a:ahLst/>
                <a:cxnLst/>
                <a:rect l="l" t="t" r="r" b="b"/>
                <a:pathLst>
                  <a:path w="64338" h="64704">
                    <a:moveTo>
                      <a:pt x="8676" y="8708"/>
                    </a:moveTo>
                    <a:cubicBezTo>
                      <a:pt x="16594" y="790"/>
                      <a:pt x="29166" y="0"/>
                      <a:pt x="38013" y="6863"/>
                    </a:cubicBezTo>
                    <a:lnTo>
                      <a:pt x="40102" y="8708"/>
                    </a:lnTo>
                    <a:lnTo>
                      <a:pt x="55660" y="24265"/>
                    </a:lnTo>
                    <a:cubicBezTo>
                      <a:pt x="63932" y="32566"/>
                      <a:pt x="64338" y="45863"/>
                      <a:pt x="56588" y="54653"/>
                    </a:cubicBezTo>
                    <a:cubicBezTo>
                      <a:pt x="48837" y="63443"/>
                      <a:pt x="35594" y="64704"/>
                      <a:pt x="26323" y="57536"/>
                    </a:cubicBezTo>
                    <a:lnTo>
                      <a:pt x="24234" y="55691"/>
                    </a:lnTo>
                    <a:lnTo>
                      <a:pt x="8676" y="40134"/>
                    </a:lnTo>
                    <a:cubicBezTo>
                      <a:pt x="0" y="31455"/>
                      <a:pt x="0" y="17387"/>
                      <a:pt x="8676" y="87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06906" y="4691118"/>
                <a:ext cx="65010" cy="64340"/>
              </a:xfrm>
              <a:custGeom>
                <a:avLst/>
                <a:gdLst/>
                <a:ahLst/>
                <a:cxnLst/>
                <a:rect l="l" t="t" r="r" b="b"/>
                <a:pathLst>
                  <a:path w="65010" h="64340">
                    <a:moveTo>
                      <a:pt x="24570" y="8678"/>
                    </a:moveTo>
                    <a:cubicBezTo>
                      <a:pt x="32871" y="406"/>
                      <a:pt x="46168" y="0"/>
                      <a:pt x="54958" y="7751"/>
                    </a:cubicBezTo>
                    <a:cubicBezTo>
                      <a:pt x="63748" y="15501"/>
                      <a:pt x="65010" y="28745"/>
                      <a:pt x="57841" y="38015"/>
                    </a:cubicBezTo>
                    <a:lnTo>
                      <a:pt x="55997" y="40105"/>
                    </a:lnTo>
                    <a:lnTo>
                      <a:pt x="40439" y="55662"/>
                    </a:lnTo>
                    <a:cubicBezTo>
                      <a:pt x="32139" y="63934"/>
                      <a:pt x="18841" y="64340"/>
                      <a:pt x="10051" y="56590"/>
                    </a:cubicBezTo>
                    <a:cubicBezTo>
                      <a:pt x="1262" y="48839"/>
                      <a:pt x="0" y="35596"/>
                      <a:pt x="7168" y="26325"/>
                    </a:cubicBezTo>
                    <a:lnTo>
                      <a:pt x="9013" y="24236"/>
                    </a:lnTo>
                    <a:lnTo>
                      <a:pt x="24570" y="86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438275" y="4991099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111125" y="0"/>
                    </a:moveTo>
                    <a:cubicBezTo>
                      <a:pt x="123399" y="0"/>
                      <a:pt x="133350" y="9950"/>
                      <a:pt x="133350" y="22225"/>
                    </a:cubicBezTo>
                    <a:cubicBezTo>
                      <a:pt x="133350" y="59049"/>
                      <a:pt x="103498" y="88900"/>
                      <a:pt x="66675" y="88900"/>
                    </a:cubicBezTo>
                    <a:cubicBezTo>
                      <a:pt x="29851" y="88900"/>
                      <a:pt x="0" y="59049"/>
                      <a:pt x="0" y="22225"/>
                    </a:cubicBezTo>
                    <a:cubicBezTo>
                      <a:pt x="1" y="10957"/>
                      <a:pt x="8435" y="1474"/>
                      <a:pt x="19625" y="156"/>
                    </a:cubicBezTo>
                    <a:lnTo>
                      <a:pt x="22225" y="0"/>
                    </a:lnTo>
                    <a:lnTo>
                      <a:pt x="111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360292" y="4724400"/>
                <a:ext cx="28931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89315" h="244475">
                    <a:moveTo>
                      <a:pt x="144658" y="0"/>
                    </a:moveTo>
                    <a:cubicBezTo>
                      <a:pt x="202055" y="0"/>
                      <a:pt x="253013" y="36729"/>
                      <a:pt x="271164" y="91181"/>
                    </a:cubicBezTo>
                    <a:cubicBezTo>
                      <a:pt x="289315" y="145633"/>
                      <a:pt x="270586" y="205591"/>
                      <a:pt x="224667" y="240030"/>
                    </a:cubicBezTo>
                    <a:cubicBezTo>
                      <a:pt x="221604" y="242331"/>
                      <a:pt x="217998" y="243800"/>
                      <a:pt x="214199" y="244297"/>
                    </a:cubicBezTo>
                    <a:lnTo>
                      <a:pt x="211332" y="244475"/>
                    </a:lnTo>
                    <a:lnTo>
                      <a:pt x="77983" y="244475"/>
                    </a:lnTo>
                    <a:cubicBezTo>
                      <a:pt x="73174" y="244475"/>
                      <a:pt x="68495" y="242915"/>
                      <a:pt x="64648" y="240030"/>
                    </a:cubicBezTo>
                    <a:cubicBezTo>
                      <a:pt x="18729" y="205591"/>
                      <a:pt x="0" y="145633"/>
                      <a:pt x="18151" y="91181"/>
                    </a:cubicBezTo>
                    <a:cubicBezTo>
                      <a:pt x="36302" y="36729"/>
                      <a:pt x="87260" y="0"/>
                      <a:pt x="1446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2000250" y="4533900"/>
              <a:ext cx="120015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2556" y="46824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73958" y="4674870"/>
              <a:ext cx="7765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如果条件连续三次都是 True，循环体会执行几次？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528303" cy="842010"/>
            <a:chOff x="457200" y="400050"/>
            <a:chExt cx="4528303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22350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人体 while 循环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390650"/>
            <a:ext cx="4476750" cy="4229100"/>
            <a:chOff x="457200" y="1390650"/>
            <a:chExt cx="4476750" cy="42291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53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008" y="2560320"/>
              <a:ext cx="38648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一名学生举条件牌，另一名学生在条件为 True 时重复走一步，直到到达终点。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305300"/>
              <a:ext cx="3600450" cy="971550"/>
            </a:xfrm>
            <a:prstGeom prst="roundRect">
              <a:avLst>
                <a:gd name="adj" fmla="val 156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6320" y="4443412"/>
              <a:ext cx="272319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观察：条件什么时候改变？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14950" y="1390650"/>
            <a:ext cx="6419850" cy="1790700"/>
            <a:chOff x="5314950" y="1390650"/>
            <a:chExt cx="6419850" cy="1790700"/>
          </a:xfrm>
        </p:grpSpPr>
        <p:sp>
          <p:nvSpPr>
            <p:cNvPr id="16" name="Rectangle 16"/>
            <p:cNvSpPr/>
            <p:nvPr/>
          </p:nvSpPr>
          <p:spPr>
            <a:xfrm>
              <a:off x="5314950" y="1390650"/>
              <a:ext cx="64198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5816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649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2908" y="1607820"/>
              <a:ext cx="485698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按条件牌行动；条件变为 False 时立即停下。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14950" y="3524250"/>
            <a:ext cx="6419850" cy="1790700"/>
            <a:chOff x="5314950" y="3524250"/>
            <a:chExt cx="6419850" cy="1790700"/>
          </a:xfrm>
        </p:grpSpPr>
        <p:sp>
          <p:nvSpPr>
            <p:cNvPr id="21" name="Rectangle 21"/>
            <p:cNvSpPr/>
            <p:nvPr/>
          </p:nvSpPr>
          <p:spPr>
            <a:xfrm>
              <a:off x="5429250" y="36385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14950" y="35242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5816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49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2908" y="3970020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目标：能说出循环何时停止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42900"/>
            <a:ext cx="8060665" cy="842010"/>
            <a:chOff x="457200" y="342900"/>
            <a:chExt cx="806066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657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最小代码：重复输入直到猜中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1257300"/>
            <a:ext cx="7620000" cy="4400550"/>
            <a:chOff x="457200" y="1257300"/>
            <a:chExt cx="7620000" cy="44005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2573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257300"/>
              <a:ext cx="7505700" cy="552450"/>
            </a:xfrm>
            <a:prstGeom prst="roundRect">
              <a:avLst>
                <a:gd name="adj" fmla="val 275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4573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4573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4573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292974" y="1398588"/>
              <a:ext cx="215903" cy="269877"/>
              <a:chOff x="7292974" y="13985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92974" y="13985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41393" y="14120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9745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3555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7365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30575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3">
                <a:alpha val="28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31556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766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2668" y="35747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9557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3367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1906" y="5025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57400" y="491490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19706" y="501586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24850" y="1257300"/>
            <a:ext cx="3412836" cy="3028950"/>
            <a:chOff x="8324850" y="1257300"/>
            <a:chExt cx="3412836" cy="3028950"/>
          </a:xfrm>
        </p:grpSpPr>
        <p:sp>
          <p:nvSpPr>
            <p:cNvPr id="27" name="Rectangle 27"/>
            <p:cNvSpPr/>
            <p:nvPr/>
          </p:nvSpPr>
          <p:spPr>
            <a:xfrm>
              <a:off x="8324850" y="1257300"/>
              <a:ext cx="3409950" cy="3028950"/>
            </a:xfrm>
            <a:prstGeom prst="roundRect">
              <a:avLst>
                <a:gd name="adj" fmla="val 503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91550" y="16192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5920" y="15668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5920" y="1966912"/>
              <a:ext cx="24717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 != answer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91550" y="26098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65920" y="270986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每轮更新 guess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591550" y="36004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5920" y="370046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猜中后离开循环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3904945" cy="842010"/>
            <a:chOff x="457200" y="304800"/>
            <a:chExt cx="390494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运行前先预测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162050"/>
            <a:ext cx="7239000" cy="3790950"/>
            <a:chOff x="457200" y="1162050"/>
            <a:chExt cx="7239000" cy="3790950"/>
          </a:xfrm>
        </p:grpSpPr>
        <p:sp>
          <p:nvSpPr>
            <p:cNvPr id="5" name="Rectangle 5"/>
            <p:cNvSpPr/>
            <p:nvPr/>
          </p:nvSpPr>
          <p:spPr>
            <a:xfrm>
              <a:off x="571500" y="12763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620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62050"/>
              <a:ext cx="71247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430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430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430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911974" y="1284288"/>
              <a:ext cx="215903" cy="269877"/>
              <a:chOff x="6911974" y="12842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11974" y="12842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60393" y="12977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8221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18408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5460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90798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668" y="32699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668" y="36318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9938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1906" y="4434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57400" y="43243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706" y="44253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900" y="1162050"/>
            <a:ext cx="3771900" cy="2781300"/>
            <a:chOff x="7962900" y="1162050"/>
            <a:chExt cx="3771900" cy="2781300"/>
          </a:xfrm>
        </p:grpSpPr>
        <p:sp>
          <p:nvSpPr>
            <p:cNvPr id="25" name="Rectangle 25"/>
            <p:cNvSpPr/>
            <p:nvPr/>
          </p:nvSpPr>
          <p:spPr>
            <a:xfrm>
              <a:off x="7962900" y="1162050"/>
              <a:ext cx="3771900" cy="27813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43363" y="1504950"/>
              <a:ext cx="382074" cy="381000"/>
              <a:chOff x="8343363" y="1504950"/>
              <a:chExt cx="382074" cy="38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4336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15350" y="1504950"/>
                <a:ext cx="38100" cy="5768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687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21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91575" y="1552598"/>
                <a:ext cx="55147" cy="55461"/>
              </a:xfrm>
              <a:custGeom>
                <a:avLst/>
                <a:gdLst/>
                <a:ahLst/>
                <a:cxnLst/>
                <a:rect l="l" t="t" r="r" b="b"/>
                <a:pathLst>
                  <a:path w="55147" h="55461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21791" y="1552623"/>
                <a:ext cx="55723" cy="55149"/>
              </a:xfrm>
              <a:custGeom>
                <a:avLst/>
                <a:gdLst/>
                <a:ahLst/>
                <a:cxnLst/>
                <a:rect l="l" t="t" r="r" b="b"/>
                <a:pathLst>
                  <a:path w="55723" h="55149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0" y="18097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10408" y="1581150"/>
                <a:ext cx="24798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985" h="209550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979408" y="1550670"/>
              <a:ext cx="24294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3 → True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53450" y="21526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57150" cap="rnd">
              <a:solidFill>
                <a:srgbClr val="B9D8ED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3915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439150" y="25908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9408" y="2293620"/>
              <a:ext cx="25264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7 → False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79408" y="30365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3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输出：猜对了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219700"/>
            <a:ext cx="11277600" cy="800100"/>
            <a:chOff x="457200" y="5219700"/>
            <a:chExt cx="11277600" cy="800100"/>
          </a:xfrm>
        </p:grpSpPr>
        <p:sp>
          <p:nvSpPr>
            <p:cNvPr id="41" name="Rectangle 41"/>
            <p:cNvSpPr/>
            <p:nvPr/>
          </p:nvSpPr>
          <p:spPr>
            <a:xfrm>
              <a:off x="457200" y="5219700"/>
              <a:ext cx="11277600" cy="800100"/>
            </a:xfrm>
            <a:prstGeom prst="roundRect">
              <a:avLst>
                <a:gd name="adj" fmla="val 1904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" y="5362575"/>
              <a:ext cx="11811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056" y="55111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97608" y="5465445"/>
              <a:ext cx="5927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依次输入 3、7，循环体一共执行几次？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6" name="TextBox 4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互动实践：加入大小提示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390650"/>
            <a:ext cx="4114800" cy="4095750"/>
            <a:chOff x="457200" y="1390650"/>
            <a:chExt cx="4114800" cy="4095750"/>
          </a:xfrm>
        </p:grpSpPr>
        <p:sp>
          <p:nvSpPr>
            <p:cNvPr id="6" name="Rectangle 6"/>
            <p:cNvSpPr/>
            <p:nvPr/>
          </p:nvSpPr>
          <p:spPr>
            <a:xfrm>
              <a:off x="571500" y="15049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906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72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1436" y="2539365"/>
              <a:ext cx="223380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if / elif放进循环体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4095750"/>
              <a:ext cx="3162300" cy="1009650"/>
            </a:xfrm>
            <a:prstGeom prst="roundRect">
              <a:avLst>
                <a:gd name="adj" fmla="val 15094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7270" y="4252912"/>
              <a:ext cx="212312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每次输入后给出大小提示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72050" y="1390650"/>
            <a:ext cx="6762750" cy="1790700"/>
            <a:chOff x="4972050" y="1390650"/>
            <a:chExt cx="6762750" cy="1790700"/>
          </a:xfrm>
        </p:grpSpPr>
        <p:sp>
          <p:nvSpPr>
            <p:cNvPr id="17" name="Rectangle 17"/>
            <p:cNvSpPr/>
            <p:nvPr/>
          </p:nvSpPr>
          <p:spPr>
            <a:xfrm>
              <a:off x="4972050" y="1390650"/>
              <a:ext cx="67627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2387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220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0008" y="1607820"/>
              <a:ext cx="388086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大小判断应该放在 while 的里面还是外面？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72050" y="3524250"/>
            <a:ext cx="6762750" cy="1790700"/>
            <a:chOff x="4972050" y="3524250"/>
            <a:chExt cx="6762750" cy="1790700"/>
          </a:xfrm>
        </p:grpSpPr>
        <p:sp>
          <p:nvSpPr>
            <p:cNvPr id="22" name="Rectangle 22"/>
            <p:cNvSpPr/>
            <p:nvPr/>
          </p:nvSpPr>
          <p:spPr>
            <a:xfrm>
              <a:off x="5086350" y="36385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242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387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220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0008" y="3741420"/>
              <a:ext cx="418490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用偏小、偏大、正确三类输入测试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8654339" cy="842010"/>
            <a:chOff x="457200" y="400050"/>
            <a:chExt cx="865433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调试挑战：为什么它停不下来？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800" y="1390650"/>
            <a:ext cx="10058400" cy="2000250"/>
            <a:chOff x="1066800" y="1390650"/>
            <a:chExt cx="10058400" cy="2000250"/>
          </a:xfrm>
        </p:grpSpPr>
        <p:sp>
          <p:nvSpPr>
            <p:cNvPr id="5" name="Rectangle 5"/>
            <p:cNvSpPr/>
            <p:nvPr/>
          </p:nvSpPr>
          <p:spPr>
            <a:xfrm>
              <a:off x="1181100" y="15049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66800" y="13906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17811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9275" y="20707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0142538" y="1768475"/>
              <a:ext cx="460376" cy="389432"/>
            </a:xfrm>
            <a:custGeom>
              <a:avLst/>
              <a:gdLst/>
              <a:ahLst/>
              <a:cxnLst/>
              <a:rect l="l" t="t" r="r" b="b"/>
              <a:pathLst>
                <a:path w="460376" h="389432">
                  <a:moveTo>
                    <a:pt x="230188" y="0"/>
                  </a:moveTo>
                  <a:cubicBezTo>
                    <a:pt x="279250" y="0"/>
                    <a:pt x="319695" y="38471"/>
                    <a:pt x="322148" y="87471"/>
                  </a:cubicBezTo>
                  <a:lnTo>
                    <a:pt x="322263" y="92075"/>
                  </a:lnTo>
                  <a:cubicBezTo>
                    <a:pt x="325670" y="92074"/>
                    <a:pt x="329035" y="92828"/>
                    <a:pt x="332115" y="94285"/>
                  </a:cubicBezTo>
                  <a:lnTo>
                    <a:pt x="401931" y="49675"/>
                  </a:lnTo>
                  <a:cubicBezTo>
                    <a:pt x="408858" y="45015"/>
                    <a:pt x="417765" y="44472"/>
                    <a:pt x="425207" y="48254"/>
                  </a:cubicBezTo>
                  <a:cubicBezTo>
                    <a:pt x="432650" y="52037"/>
                    <a:pt x="437461" y="59552"/>
                    <a:pt x="437780" y="67894"/>
                  </a:cubicBezTo>
                  <a:cubicBezTo>
                    <a:pt x="438099" y="76237"/>
                    <a:pt x="433877" y="84098"/>
                    <a:pt x="426745" y="88438"/>
                  </a:cubicBezTo>
                  <a:lnTo>
                    <a:pt x="357344" y="132887"/>
                  </a:lnTo>
                  <a:cubicBezTo>
                    <a:pt x="363704" y="149282"/>
                    <a:pt x="367402" y="166588"/>
                    <a:pt x="368301" y="184150"/>
                  </a:cubicBezTo>
                  <a:lnTo>
                    <a:pt x="437357" y="184150"/>
                  </a:lnTo>
                  <a:cubicBezTo>
                    <a:pt x="450070" y="184150"/>
                    <a:pt x="460376" y="194456"/>
                    <a:pt x="460376" y="207169"/>
                  </a:cubicBezTo>
                  <a:cubicBezTo>
                    <a:pt x="460376" y="219882"/>
                    <a:pt x="450070" y="230188"/>
                    <a:pt x="437357" y="230188"/>
                  </a:cubicBezTo>
                  <a:lnTo>
                    <a:pt x="368301" y="230188"/>
                  </a:lnTo>
                  <a:lnTo>
                    <a:pt x="368301" y="253207"/>
                  </a:lnTo>
                  <a:cubicBezTo>
                    <a:pt x="368313" y="265052"/>
                    <a:pt x="366805" y="276849"/>
                    <a:pt x="363812" y="288310"/>
                  </a:cubicBezTo>
                  <a:lnTo>
                    <a:pt x="426147" y="325509"/>
                  </a:lnTo>
                  <a:cubicBezTo>
                    <a:pt x="437067" y="332030"/>
                    <a:pt x="440633" y="346170"/>
                    <a:pt x="434111" y="357090"/>
                  </a:cubicBezTo>
                  <a:cubicBezTo>
                    <a:pt x="427589" y="368011"/>
                    <a:pt x="413450" y="371577"/>
                    <a:pt x="402529" y="365055"/>
                  </a:cubicBezTo>
                  <a:lnTo>
                    <a:pt x="344660" y="330504"/>
                  </a:lnTo>
                  <a:cubicBezTo>
                    <a:pt x="323518" y="361828"/>
                    <a:pt x="290468" y="383124"/>
                    <a:pt x="253207" y="389432"/>
                  </a:cubicBezTo>
                  <a:lnTo>
                    <a:pt x="253207" y="253207"/>
                  </a:lnTo>
                  <a:cubicBezTo>
                    <a:pt x="253207" y="240494"/>
                    <a:pt x="242901" y="230188"/>
                    <a:pt x="230188" y="230188"/>
                  </a:cubicBezTo>
                  <a:cubicBezTo>
                    <a:pt x="217475" y="230188"/>
                    <a:pt x="207169" y="240494"/>
                    <a:pt x="207169" y="253207"/>
                  </a:cubicBezTo>
                  <a:lnTo>
                    <a:pt x="207169" y="389409"/>
                  </a:lnTo>
                  <a:cubicBezTo>
                    <a:pt x="169908" y="383101"/>
                    <a:pt x="136858" y="361805"/>
                    <a:pt x="115715" y="330481"/>
                  </a:cubicBezTo>
                  <a:lnTo>
                    <a:pt x="57846" y="365078"/>
                  </a:lnTo>
                  <a:cubicBezTo>
                    <a:pt x="46926" y="371600"/>
                    <a:pt x="32786" y="368034"/>
                    <a:pt x="26264" y="357113"/>
                  </a:cubicBezTo>
                  <a:cubicBezTo>
                    <a:pt x="19743" y="346193"/>
                    <a:pt x="23309" y="332053"/>
                    <a:pt x="34229" y="325532"/>
                  </a:cubicBezTo>
                  <a:lnTo>
                    <a:pt x="96564" y="288333"/>
                  </a:lnTo>
                  <a:cubicBezTo>
                    <a:pt x="93569" y="276865"/>
                    <a:pt x="92060" y="265059"/>
                    <a:pt x="92075" y="253207"/>
                  </a:cubicBezTo>
                  <a:lnTo>
                    <a:pt x="92075" y="230188"/>
                  </a:lnTo>
                  <a:lnTo>
                    <a:pt x="23019" y="230188"/>
                  </a:lnTo>
                  <a:cubicBezTo>
                    <a:pt x="10306" y="230188"/>
                    <a:pt x="0" y="219882"/>
                    <a:pt x="0" y="207169"/>
                  </a:cubicBezTo>
                  <a:cubicBezTo>
                    <a:pt x="0" y="194456"/>
                    <a:pt x="10306" y="184150"/>
                    <a:pt x="23019" y="184150"/>
                  </a:cubicBezTo>
                  <a:lnTo>
                    <a:pt x="92098" y="184150"/>
                  </a:lnTo>
                  <a:lnTo>
                    <a:pt x="92098" y="182884"/>
                  </a:lnTo>
                  <a:cubicBezTo>
                    <a:pt x="93046" y="165736"/>
                    <a:pt x="96730" y="148850"/>
                    <a:pt x="103009" y="132864"/>
                  </a:cubicBezTo>
                  <a:lnTo>
                    <a:pt x="33630" y="88438"/>
                  </a:lnTo>
                  <a:cubicBezTo>
                    <a:pt x="26499" y="84098"/>
                    <a:pt x="22276" y="76237"/>
                    <a:pt x="22596" y="67894"/>
                  </a:cubicBezTo>
                  <a:cubicBezTo>
                    <a:pt x="22915" y="59552"/>
                    <a:pt x="27726" y="52037"/>
                    <a:pt x="35168" y="48254"/>
                  </a:cubicBezTo>
                  <a:cubicBezTo>
                    <a:pt x="42611" y="44472"/>
                    <a:pt x="51517" y="45015"/>
                    <a:pt x="58445" y="49675"/>
                  </a:cubicBezTo>
                  <a:lnTo>
                    <a:pt x="128238" y="94308"/>
                  </a:lnTo>
                  <a:lnTo>
                    <a:pt x="128790" y="94032"/>
                  </a:lnTo>
                  <a:lnTo>
                    <a:pt x="130355" y="93410"/>
                  </a:lnTo>
                  <a:lnTo>
                    <a:pt x="130793" y="93295"/>
                  </a:lnTo>
                  <a:lnTo>
                    <a:pt x="131161" y="93157"/>
                  </a:lnTo>
                  <a:lnTo>
                    <a:pt x="131898" y="92973"/>
                  </a:lnTo>
                  <a:lnTo>
                    <a:pt x="132818" y="92674"/>
                  </a:lnTo>
                  <a:lnTo>
                    <a:pt x="133601" y="92513"/>
                  </a:lnTo>
                  <a:lnTo>
                    <a:pt x="134384" y="92420"/>
                  </a:lnTo>
                  <a:lnTo>
                    <a:pt x="135419" y="92236"/>
                  </a:lnTo>
                  <a:lnTo>
                    <a:pt x="135765" y="92213"/>
                  </a:lnTo>
                  <a:lnTo>
                    <a:pt x="136110" y="92167"/>
                  </a:lnTo>
                  <a:lnTo>
                    <a:pt x="138113" y="92075"/>
                  </a:lnTo>
                  <a:cubicBezTo>
                    <a:pt x="138113" y="41223"/>
                    <a:pt x="179336" y="0"/>
                    <a:pt x="230188" y="0"/>
                  </a:cubicBezTo>
                  <a:close/>
                  <a:moveTo>
                    <a:pt x="230188" y="46038"/>
                  </a:moveTo>
                  <a:cubicBezTo>
                    <a:pt x="204762" y="46038"/>
                    <a:pt x="184150" y="66649"/>
                    <a:pt x="184150" y="92075"/>
                  </a:cubicBezTo>
                  <a:lnTo>
                    <a:pt x="276225" y="92075"/>
                  </a:lnTo>
                  <a:cubicBezTo>
                    <a:pt x="276225" y="66649"/>
                    <a:pt x="255614" y="46038"/>
                    <a:pt x="230188" y="460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97886" y="1853565"/>
              <a:ext cx="5754243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先检查哪一项：条件、缩进，还是变量更新？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752850"/>
            <a:ext cx="10058400" cy="1962912"/>
            <a:chOff x="1066800" y="3752850"/>
            <a:chExt cx="10058400" cy="1962912"/>
          </a:xfrm>
        </p:grpSpPr>
        <p:sp>
          <p:nvSpPr>
            <p:cNvPr id="12" name="Rectangle 12"/>
            <p:cNvSpPr/>
            <p:nvPr/>
          </p:nvSpPr>
          <p:spPr>
            <a:xfrm>
              <a:off x="1066800" y="3752850"/>
              <a:ext cx="10058400" cy="1962150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409700" y="4114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658" y="4065270"/>
              <a:ext cx="58593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while 写成 if，导致代码只判断一次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40970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35658" y="46558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忘记给循环体缩进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409700" y="5295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35658" y="5246370"/>
              <a:ext cx="50130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条件永远为 True，形成无限循环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6873316" cy="842010"/>
            <a:chOff x="457200" y="304800"/>
            <a:chExt cx="6873316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完整版本：加入大小提示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123950"/>
            <a:ext cx="7848600" cy="4819650"/>
            <a:chOff x="457200" y="1123950"/>
            <a:chExt cx="7848600" cy="4819650"/>
          </a:xfrm>
        </p:grpSpPr>
        <p:sp>
          <p:nvSpPr>
            <p:cNvPr id="5" name="Rectangle 5"/>
            <p:cNvSpPr/>
            <p:nvPr/>
          </p:nvSpPr>
          <p:spPr>
            <a:xfrm>
              <a:off x="571500" y="12382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239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23950"/>
              <a:ext cx="77343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04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049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049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21574" y="1246188"/>
              <a:ext cx="215903" cy="269877"/>
              <a:chOff x="7521574" y="12461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521574" y="12461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69993" y="12596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76498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088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4126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7365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3009900"/>
              <a:ext cx="7124700" cy="1066800"/>
            </a:xfrm>
            <a:prstGeom prst="roundRect">
              <a:avLst>
                <a:gd name="adj" fmla="val 10714"/>
              </a:avLst>
            </a:prstGeom>
            <a:solidFill>
              <a:schemeClr val="accent3">
                <a:alpha val="22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668" y="30603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384232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6      if guess &lt; answer: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7080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7          print("太小了")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0319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8      elif guess &gt; answer: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668" y="43557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9          print("太大了")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668" y="4679632"/>
              <a:ext cx="394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10 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668" y="5003482"/>
              <a:ext cx="2442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 xml:space="preserve">11  print("猜对了！")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90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57400" y="53149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9706" y="54159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72500" y="1123950"/>
            <a:ext cx="3162300" cy="3200400"/>
            <a:chOff x="8572500" y="1123950"/>
            <a:chExt cx="3162300" cy="3200400"/>
          </a:xfrm>
        </p:grpSpPr>
        <p:sp>
          <p:nvSpPr>
            <p:cNvPr id="30" name="Rectangle 30"/>
            <p:cNvSpPr/>
            <p:nvPr/>
          </p:nvSpPr>
          <p:spPr>
            <a:xfrm>
              <a:off x="8572500" y="1123950"/>
              <a:ext cx="3162300" cy="32004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01100" y="15430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80220" y="162401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循环读取输入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801100" y="25146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80220" y="24812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if / elif 给出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0220" y="28622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8801100" y="34861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80220" y="34528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猜中后退出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80220" y="383381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并祝贺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7466990" cy="842010"/>
            <a:chOff x="457200" y="400050"/>
            <a:chExt cx="7466990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学生动手：完成并测试游戏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5715000" cy="3314700"/>
            <a:chOff x="457200" y="1390650"/>
            <a:chExt cx="5715000" cy="33147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7487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973126" y="177798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6008" y="2426970"/>
              <a:ext cx="4824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交换游戏，用偏小、偏大、正确三类输入测试，并记录一次发现。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3581400"/>
              <a:ext cx="4762500" cy="857250"/>
            </a:xfrm>
            <a:prstGeom prst="roundRect">
              <a:avLst>
                <a:gd name="adj" fmla="val 17778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7270" y="3681412"/>
              <a:ext cx="332327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完成后与同伴交换测试，并记录一个发现。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5100" y="1390650"/>
            <a:ext cx="5219700" cy="3200400"/>
            <a:chOff x="6515100" y="1390650"/>
            <a:chExt cx="52197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6515100" y="1390650"/>
              <a:ext cx="5219700" cy="32004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79983" y="1821950"/>
              <a:ext cx="368261" cy="261349"/>
            </a:xfrm>
            <a:custGeom>
              <a:avLst/>
              <a:gdLst/>
              <a:ahLst/>
              <a:cxnLst/>
              <a:rect l="l" t="t" r="r" b="b"/>
              <a:pathLst>
                <a:path w="368261" h="261349">
                  <a:moveTo>
                    <a:pt x="359894" y="8366"/>
                  </a:moveTo>
                  <a:cubicBezTo>
                    <a:pt x="368261" y="16735"/>
                    <a:pt x="368261" y="30301"/>
                    <a:pt x="359894" y="38670"/>
                  </a:cubicBezTo>
                  <a:lnTo>
                    <a:pt x="145582" y="252983"/>
                  </a:lnTo>
                  <a:cubicBezTo>
                    <a:pt x="137213" y="261349"/>
                    <a:pt x="123647" y="261349"/>
                    <a:pt x="115278" y="252983"/>
                  </a:cubicBezTo>
                  <a:lnTo>
                    <a:pt x="8122" y="145826"/>
                  </a:lnTo>
                  <a:cubicBezTo>
                    <a:pt x="0" y="137417"/>
                    <a:pt x="116" y="124050"/>
                    <a:pt x="8383" y="115784"/>
                  </a:cubicBezTo>
                  <a:cubicBezTo>
                    <a:pt x="16650" y="107517"/>
                    <a:pt x="30016" y="107401"/>
                    <a:pt x="38426" y="115523"/>
                  </a:cubicBezTo>
                  <a:lnTo>
                    <a:pt x="130430" y="207527"/>
                  </a:lnTo>
                  <a:lnTo>
                    <a:pt x="329591" y="8366"/>
                  </a:lnTo>
                  <a:cubicBezTo>
                    <a:pt x="337959" y="0"/>
                    <a:pt x="351525" y="0"/>
                    <a:pt x="359894" y="836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133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2008" y="25984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测试偏小输入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2008" y="32270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测试偏大输入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2008" y="38557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测试正确输入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5048250"/>
            <a:ext cx="11277600" cy="876300"/>
            <a:chOff x="457200" y="5048250"/>
            <a:chExt cx="11277600" cy="876300"/>
          </a:xfrm>
        </p:grpSpPr>
        <p:sp>
          <p:nvSpPr>
            <p:cNvPr id="20" name="Rectangle 20"/>
            <p:cNvSpPr/>
            <p:nvPr/>
          </p:nvSpPr>
          <p:spPr>
            <a:xfrm>
              <a:off x="457200" y="5048250"/>
              <a:ext cx="11277600" cy="876300"/>
            </a:xfrm>
            <a:prstGeom prst="roundRect">
              <a:avLst>
                <a:gd name="adj" fmla="val 173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219700"/>
              <a:ext cx="13716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0506" y="5387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动手做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71750" y="5486400"/>
              <a:ext cx="8248650" cy="9525"/>
            </a:xfrm>
            <a:custGeom>
              <a:avLst/>
              <a:gdLst/>
              <a:ahLst/>
              <a:cxnLst/>
              <a:rect l="l" t="t" r="r" b="b"/>
              <a:pathLst>
                <a:path w="8248650" h="9525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noFill/>
            <a:ln w="76200" cap="rnd">
              <a:solidFill>
                <a:srgbClr val="E3A82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10125" y="53435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667625" y="53435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rgbClr val="24476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0550" y="461010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记住这三件事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4450"/>
            <a:ext cx="10972800" cy="895350"/>
            <a:chOff x="609600" y="1314450"/>
            <a:chExt cx="10972800" cy="895350"/>
          </a:xfrm>
        </p:grpSpPr>
        <p:sp>
          <p:nvSpPr>
            <p:cNvPr id="4" name="Rectangle 4"/>
            <p:cNvSpPr/>
            <p:nvPr/>
          </p:nvSpPr>
          <p:spPr>
            <a:xfrm>
              <a:off x="609600" y="1314450"/>
              <a:ext cx="10972800" cy="895350"/>
            </a:xfrm>
            <a:prstGeom prst="roundRect">
              <a:avLst>
                <a:gd name="adj" fmla="val 17021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208" y="1607820"/>
              <a:ext cx="77224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950" y="2667000"/>
            <a:ext cx="7346442" cy="896112"/>
            <a:chOff x="742950" y="2667000"/>
            <a:chExt cx="7346442" cy="896112"/>
          </a:xfrm>
        </p:grpSpPr>
        <p:sp>
          <p:nvSpPr>
            <p:cNvPr id="7" name="Ellipse 7"/>
            <p:cNvSpPr/>
            <p:nvPr/>
          </p:nvSpPr>
          <p:spPr>
            <a:xfrm>
              <a:off x="742950" y="26670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211" y="27679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4208" y="26746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循环条件决定循环是否继续执行，每次循环前都会重新判断。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2950" y="3771900"/>
            <a:ext cx="7346442" cy="896112"/>
            <a:chOff x="742950" y="3771900"/>
            <a:chExt cx="7346442" cy="896112"/>
          </a:xfrm>
        </p:grpSpPr>
        <p:sp>
          <p:nvSpPr>
            <p:cNvPr id="11" name="Ellipse 11"/>
            <p:cNvSpPr/>
            <p:nvPr/>
          </p:nvSpPr>
          <p:spPr>
            <a:xfrm>
              <a:off x="742950" y="3771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211" y="38728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4208" y="37795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循环变量是在循环过程中被更新、并帮助循环最终停止的变量。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4800600"/>
            <a:ext cx="10534650" cy="822579"/>
            <a:chOff x="742950" y="4800600"/>
            <a:chExt cx="10534650" cy="822579"/>
          </a:xfrm>
        </p:grpSpPr>
        <p:sp>
          <p:nvSpPr>
            <p:cNvPr id="15" name="Ellipse 15"/>
            <p:cNvSpPr/>
            <p:nvPr/>
          </p:nvSpPr>
          <p:spPr>
            <a:xfrm>
              <a:off x="742950" y="48768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211" y="49777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76400" y="4800600"/>
              <a:ext cx="96012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49958" y="4998720"/>
              <a:ext cx="71654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用一句话说明 while 循环何时继续、何时停止。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DCEEFA"/>
                </a:solidFill>
                <a:latin typeface="+mn-lt"/>
                <a:ea typeface="+mn-ea"/>
                <a:cs typeface="+mn-cs"/>
              </a:rPr>
              <a:t>SLIDE-14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00500" cy="4210050"/>
          </a:xfrm>
          <a:custGeom>
            <a:avLst/>
            <a:gdLst/>
            <a:ahLst/>
            <a:cxnLst/>
            <a:rect l="l" t="t" r="r" b="b"/>
            <a:pathLst>
              <a:path w="4000500" h="4210050">
                <a:moveTo>
                  <a:pt x="0" y="0"/>
                </a:moveTo>
                <a:lnTo>
                  <a:pt x="4000500" y="0"/>
                </a:lnTo>
                <a:cubicBezTo>
                  <a:pt x="3143250" y="1524000"/>
                  <a:pt x="3333750" y="3067050"/>
                  <a:pt x="0" y="42100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10800" y="487680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4" name="Rectangle 4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课后挑战：让游戏更完整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466850"/>
            <a:ext cx="7017639" cy="3581400"/>
            <a:chOff x="457200" y="1466850"/>
            <a:chExt cx="7017639" cy="3581400"/>
          </a:xfrm>
        </p:grpSpPr>
        <p:sp>
          <p:nvSpPr>
            <p:cNvPr id="7" name="Rectangle 7"/>
            <p:cNvSpPr/>
            <p:nvPr/>
          </p:nvSpPr>
          <p:spPr>
            <a:xfrm>
              <a:off x="571500" y="15811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668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8630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68476" y="18732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0486" y="2615565"/>
              <a:ext cx="663435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在完整游戏中增加猜测次数统计，并在猜中后显示次数。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4248150"/>
              <a:ext cx="5581650" cy="266700"/>
            </a:xfrm>
            <a:prstGeom prst="roundRect">
              <a:avLst>
                <a:gd name="adj" fmla="val 5000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4248150"/>
              <a:ext cx="3219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05250" y="42100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372350" y="1466850"/>
            <a:ext cx="4362450" cy="3467100"/>
            <a:chOff x="7372350" y="1466850"/>
            <a:chExt cx="4362450" cy="3467100"/>
          </a:xfrm>
        </p:grpSpPr>
        <p:sp>
          <p:nvSpPr>
            <p:cNvPr id="16" name="Rectangle 16"/>
            <p:cNvSpPr/>
            <p:nvPr/>
          </p:nvSpPr>
          <p:spPr>
            <a:xfrm>
              <a:off x="7372350" y="1466850"/>
              <a:ext cx="4362450" cy="346710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862496" y="1964671"/>
              <a:ext cx="395540" cy="280709"/>
            </a:xfrm>
            <a:custGeom>
              <a:avLst/>
              <a:gdLst/>
              <a:ahLst/>
              <a:cxnLst/>
              <a:rect l="l" t="t" r="r" b="b"/>
              <a:pathLst>
                <a:path w="395540" h="280709">
                  <a:moveTo>
                    <a:pt x="386554" y="8986"/>
                  </a:moveTo>
                  <a:cubicBezTo>
                    <a:pt x="395540" y="17975"/>
                    <a:pt x="395540" y="32546"/>
                    <a:pt x="386554" y="41535"/>
                  </a:cubicBezTo>
                  <a:lnTo>
                    <a:pt x="156366" y="271722"/>
                  </a:lnTo>
                  <a:cubicBezTo>
                    <a:pt x="147377" y="280709"/>
                    <a:pt x="132806" y="280709"/>
                    <a:pt x="123817" y="271722"/>
                  </a:cubicBezTo>
                  <a:lnTo>
                    <a:pt x="8723" y="156629"/>
                  </a:lnTo>
                  <a:cubicBezTo>
                    <a:pt x="0" y="147596"/>
                    <a:pt x="125" y="133240"/>
                    <a:pt x="9004" y="124360"/>
                  </a:cubicBezTo>
                  <a:cubicBezTo>
                    <a:pt x="17883" y="115481"/>
                    <a:pt x="32240" y="115357"/>
                    <a:pt x="41272" y="124080"/>
                  </a:cubicBezTo>
                  <a:lnTo>
                    <a:pt x="140092" y="222900"/>
                  </a:lnTo>
                  <a:lnTo>
                    <a:pt x="354005" y="8986"/>
                  </a:lnTo>
                  <a:cubicBezTo>
                    <a:pt x="362994" y="0"/>
                    <a:pt x="377565" y="0"/>
                    <a:pt x="386554" y="898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5736" y="18726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79258" y="28841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保留原有功能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79258" y="368427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说明你新增了什么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62300" y="5486400"/>
            <a:ext cx="5867400" cy="342900"/>
            <a:chOff x="3162300" y="5486400"/>
            <a:chExt cx="5867400" cy="342900"/>
          </a:xfrm>
        </p:grpSpPr>
        <p:sp>
          <p:nvSpPr>
            <p:cNvPr id="22" name="Line 22"/>
            <p:cNvSpPr/>
            <p:nvPr/>
          </p:nvSpPr>
          <p:spPr>
            <a:xfrm>
              <a:off x="3333750" y="56578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0" cap="rnd">
              <a:solidFill>
                <a:srgbClr val="B9D8ED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54864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9245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86800" y="54864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2026-07-27T10:53:14Z</dcterms:created>
  <dcterms:modified xsi:type="dcterms:W3CDTF">2026-07-27T10:53:14Z</dcterms:modified>
  <cp:category/>
  <cp:contentStatus/>
</cp:coreProperties>
</file>